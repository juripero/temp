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63Y4xwgxta85XDECrRghTT6Ju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608e3a107d57c77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h608e3a107d57c77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h608e3a107d57c77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2168105" y="1249470"/>
            <a:ext cx="1069675" cy="49458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324927" y="2261635"/>
            <a:ext cx="4756030" cy="1144438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PCIe Switch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1"/>
          <p:cNvCxnSpPr>
            <a:stCxn id="88" idx="2"/>
            <a:endCxn id="89" idx="0"/>
          </p:cNvCxnSpPr>
          <p:nvPr/>
        </p:nvCxnSpPr>
        <p:spPr>
          <a:xfrm>
            <a:off x="2702943" y="1744050"/>
            <a:ext cx="0" cy="517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91" name="Google Shape;91;p1"/>
          <p:cNvSpPr/>
          <p:nvPr/>
        </p:nvSpPr>
        <p:spPr>
          <a:xfrm>
            <a:off x="324927" y="3811513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943975" y="3811513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563023" y="3811513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2801119" y="3811513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3420167" y="3811513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4658262" y="3811513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182071" y="3811513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4039215" y="3811513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1"/>
          <p:cNvCxnSpPr/>
          <p:nvPr/>
        </p:nvCxnSpPr>
        <p:spPr>
          <a:xfrm flipH="1">
            <a:off x="519020" y="3349999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00" name="Google Shape;100;p1"/>
          <p:cNvCxnSpPr/>
          <p:nvPr/>
        </p:nvCxnSpPr>
        <p:spPr>
          <a:xfrm flipH="1">
            <a:off x="1144134" y="3349999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01" name="Google Shape;101;p1"/>
          <p:cNvCxnSpPr/>
          <p:nvPr/>
        </p:nvCxnSpPr>
        <p:spPr>
          <a:xfrm flipH="1">
            <a:off x="1769248" y="3349999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02" name="Google Shape;102;p1"/>
          <p:cNvCxnSpPr/>
          <p:nvPr/>
        </p:nvCxnSpPr>
        <p:spPr>
          <a:xfrm flipH="1">
            <a:off x="2394362" y="3349999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03" name="Google Shape;103;p1"/>
          <p:cNvCxnSpPr/>
          <p:nvPr/>
        </p:nvCxnSpPr>
        <p:spPr>
          <a:xfrm flipH="1">
            <a:off x="3019476" y="3349999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04" name="Google Shape;104;p1"/>
          <p:cNvCxnSpPr/>
          <p:nvPr/>
        </p:nvCxnSpPr>
        <p:spPr>
          <a:xfrm flipH="1">
            <a:off x="3644590" y="3349999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05" name="Google Shape;105;p1"/>
          <p:cNvCxnSpPr/>
          <p:nvPr/>
        </p:nvCxnSpPr>
        <p:spPr>
          <a:xfrm flipH="1">
            <a:off x="4269704" y="3349999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06" name="Google Shape;106;p1"/>
          <p:cNvCxnSpPr/>
          <p:nvPr/>
        </p:nvCxnSpPr>
        <p:spPr>
          <a:xfrm flipH="1">
            <a:off x="4894821" y="3349999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07" name="Google Shape;107;p1"/>
          <p:cNvSpPr/>
          <p:nvPr/>
        </p:nvSpPr>
        <p:spPr>
          <a:xfrm>
            <a:off x="8844952" y="1193396"/>
            <a:ext cx="1069675" cy="49458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001774" y="2205561"/>
            <a:ext cx="4756030" cy="1144438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PCIe Switch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1"/>
          <p:cNvCxnSpPr>
            <a:stCxn id="107" idx="2"/>
            <a:endCxn id="108" idx="0"/>
          </p:cNvCxnSpPr>
          <p:nvPr/>
        </p:nvCxnSpPr>
        <p:spPr>
          <a:xfrm>
            <a:off x="9379790" y="1687976"/>
            <a:ext cx="0" cy="517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0" name="Google Shape;110;p1"/>
          <p:cNvSpPr/>
          <p:nvPr/>
        </p:nvSpPr>
        <p:spPr>
          <a:xfrm>
            <a:off x="7001774" y="3755439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620822" y="3755439"/>
            <a:ext cx="422695" cy="151824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8239870" y="3755439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9477966" y="3755439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10097014" y="3755439"/>
            <a:ext cx="422695" cy="151824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1335109" y="3755439"/>
            <a:ext cx="422695" cy="151824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8858918" y="3755439"/>
            <a:ext cx="422695" cy="151824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10716062" y="3755439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1"/>
          <p:cNvCxnSpPr/>
          <p:nvPr/>
        </p:nvCxnSpPr>
        <p:spPr>
          <a:xfrm flipH="1">
            <a:off x="7195867" y="3293925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19" name="Google Shape;119;p1"/>
          <p:cNvCxnSpPr/>
          <p:nvPr/>
        </p:nvCxnSpPr>
        <p:spPr>
          <a:xfrm flipH="1">
            <a:off x="7820981" y="3293925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0" name="Google Shape;120;p1"/>
          <p:cNvCxnSpPr/>
          <p:nvPr/>
        </p:nvCxnSpPr>
        <p:spPr>
          <a:xfrm flipH="1">
            <a:off x="8446095" y="3293925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1" name="Google Shape;121;p1"/>
          <p:cNvCxnSpPr/>
          <p:nvPr/>
        </p:nvCxnSpPr>
        <p:spPr>
          <a:xfrm flipH="1">
            <a:off x="9071209" y="3293925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2" name="Google Shape;122;p1"/>
          <p:cNvCxnSpPr/>
          <p:nvPr/>
        </p:nvCxnSpPr>
        <p:spPr>
          <a:xfrm flipH="1">
            <a:off x="9696323" y="3293925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3" name="Google Shape;123;p1"/>
          <p:cNvCxnSpPr/>
          <p:nvPr/>
        </p:nvCxnSpPr>
        <p:spPr>
          <a:xfrm flipH="1">
            <a:off x="10321437" y="3293925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4" name="Google Shape;124;p1"/>
          <p:cNvCxnSpPr/>
          <p:nvPr/>
        </p:nvCxnSpPr>
        <p:spPr>
          <a:xfrm flipH="1">
            <a:off x="10946551" y="3293925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5" name="Google Shape;125;p1"/>
          <p:cNvCxnSpPr/>
          <p:nvPr/>
        </p:nvCxnSpPr>
        <p:spPr>
          <a:xfrm flipH="1">
            <a:off x="11571668" y="3293925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26" name="Google Shape;126;p1"/>
          <p:cNvSpPr txBox="1"/>
          <p:nvPr/>
        </p:nvSpPr>
        <p:spPr>
          <a:xfrm>
            <a:off x="2801119" y="5735202"/>
            <a:ext cx="641714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8卡（或12卡）一体机，需要拿掉一半数量的GPU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用于安装和GPU数量1：1 的 PCIe链接扩展卡（Fabric Card）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扩展卡针对环形和星形两种拓扑有不同的形态，后面分别说明</a:t>
            </a:r>
            <a:endParaRPr/>
          </a:p>
        </p:txBody>
      </p:sp>
      <p:sp>
        <p:nvSpPr>
          <p:cNvPr id="127" name="Google Shape;127;p1"/>
          <p:cNvSpPr txBox="1"/>
          <p:nvPr/>
        </p:nvSpPr>
        <p:spPr>
          <a:xfrm>
            <a:off x="324927" y="390309"/>
            <a:ext cx="10515600" cy="7299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lang="en-US" sz="6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多卡一体机的改造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"/>
          <p:cNvSpPr/>
          <p:nvPr/>
        </p:nvSpPr>
        <p:spPr>
          <a:xfrm>
            <a:off x="8650165" y="1477479"/>
            <a:ext cx="1069675" cy="49458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806987" y="2489644"/>
            <a:ext cx="4756030" cy="1144438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PCIe Switch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2"/>
          <p:cNvCxnSpPr>
            <a:stCxn id="133" idx="2"/>
            <a:endCxn id="134" idx="0"/>
          </p:cNvCxnSpPr>
          <p:nvPr/>
        </p:nvCxnSpPr>
        <p:spPr>
          <a:xfrm>
            <a:off x="9185003" y="1972059"/>
            <a:ext cx="0" cy="517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6" name="Google Shape;136;p2"/>
          <p:cNvSpPr/>
          <p:nvPr/>
        </p:nvSpPr>
        <p:spPr>
          <a:xfrm>
            <a:off x="6806987" y="4039522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7426035" y="4039522"/>
            <a:ext cx="422695" cy="151824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8045083" y="4039522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9283179" y="4039522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9902227" y="4039522"/>
            <a:ext cx="422695" cy="151824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11140322" y="4039522"/>
            <a:ext cx="422695" cy="151824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8664131" y="4039522"/>
            <a:ext cx="422695" cy="151824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10521275" y="4039522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2"/>
          <p:cNvCxnSpPr/>
          <p:nvPr/>
        </p:nvCxnSpPr>
        <p:spPr>
          <a:xfrm flipH="1">
            <a:off x="7001080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45" name="Google Shape;145;p2"/>
          <p:cNvCxnSpPr/>
          <p:nvPr/>
        </p:nvCxnSpPr>
        <p:spPr>
          <a:xfrm flipH="1">
            <a:off x="7626194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46" name="Google Shape;146;p2"/>
          <p:cNvCxnSpPr/>
          <p:nvPr/>
        </p:nvCxnSpPr>
        <p:spPr>
          <a:xfrm flipH="1">
            <a:off x="8251308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47" name="Google Shape;147;p2"/>
          <p:cNvCxnSpPr/>
          <p:nvPr/>
        </p:nvCxnSpPr>
        <p:spPr>
          <a:xfrm flipH="1">
            <a:off x="8876422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48" name="Google Shape;148;p2"/>
          <p:cNvCxnSpPr/>
          <p:nvPr/>
        </p:nvCxnSpPr>
        <p:spPr>
          <a:xfrm flipH="1">
            <a:off x="9501536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49" name="Google Shape;149;p2"/>
          <p:cNvCxnSpPr/>
          <p:nvPr/>
        </p:nvCxnSpPr>
        <p:spPr>
          <a:xfrm flipH="1">
            <a:off x="10126650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50" name="Google Shape;150;p2"/>
          <p:cNvCxnSpPr/>
          <p:nvPr/>
        </p:nvCxnSpPr>
        <p:spPr>
          <a:xfrm flipH="1">
            <a:off x="10751764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51" name="Google Shape;151;p2"/>
          <p:cNvCxnSpPr/>
          <p:nvPr/>
        </p:nvCxnSpPr>
        <p:spPr>
          <a:xfrm flipH="1">
            <a:off x="11376881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2" name="Google Shape;152;p2"/>
          <p:cNvSpPr/>
          <p:nvPr/>
        </p:nvSpPr>
        <p:spPr>
          <a:xfrm>
            <a:off x="713869" y="2817452"/>
            <a:ext cx="4629508" cy="1929438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1079054" y="4746890"/>
            <a:ext cx="2714445" cy="359437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PCIe 16X 金手指 GF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2568546" y="3137706"/>
            <a:ext cx="805133" cy="1257299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48 lane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2"/>
          <p:cNvCxnSpPr/>
          <p:nvPr/>
        </p:nvCxnSpPr>
        <p:spPr>
          <a:xfrm rot="10800000">
            <a:off x="2942359" y="4297959"/>
            <a:ext cx="0" cy="448931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6" name="Google Shape;156;p2"/>
          <p:cNvSpPr/>
          <p:nvPr/>
        </p:nvSpPr>
        <p:spPr>
          <a:xfrm>
            <a:off x="498208" y="3120095"/>
            <a:ext cx="1938068" cy="611040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16X 外联接口</a:t>
            </a:r>
            <a:endParaRPr/>
          </a:p>
        </p:txBody>
      </p:sp>
      <p:sp>
        <p:nvSpPr>
          <p:cNvPr id="157" name="Google Shape;157;p2"/>
          <p:cNvSpPr/>
          <p:nvPr/>
        </p:nvSpPr>
        <p:spPr>
          <a:xfrm>
            <a:off x="498208" y="3803738"/>
            <a:ext cx="1938068" cy="611040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16X 外联接口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2"/>
          <p:cNvCxnSpPr/>
          <p:nvPr/>
        </p:nvCxnSpPr>
        <p:spPr>
          <a:xfrm rot="10800000">
            <a:off x="2177479" y="3425615"/>
            <a:ext cx="534837" cy="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59" name="Google Shape;159;p2"/>
          <p:cNvCxnSpPr/>
          <p:nvPr/>
        </p:nvCxnSpPr>
        <p:spPr>
          <a:xfrm rot="10800000">
            <a:off x="2240741" y="4109258"/>
            <a:ext cx="534837" cy="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60" name="Google Shape;160;p2"/>
          <p:cNvSpPr txBox="1"/>
          <p:nvPr/>
        </p:nvSpPr>
        <p:spPr>
          <a:xfrm>
            <a:off x="2883085" y="4345927"/>
            <a:ext cx="5613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16X</a:t>
            </a:r>
            <a:endParaRPr sz="18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2213883" y="4098276"/>
            <a:ext cx="5613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16X</a:t>
            </a:r>
            <a:endParaRPr sz="18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2177479" y="3428460"/>
            <a:ext cx="5613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16X</a:t>
            </a:r>
            <a:endParaRPr sz="18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p2"/>
          <p:cNvCxnSpPr/>
          <p:nvPr/>
        </p:nvCxnSpPr>
        <p:spPr>
          <a:xfrm flipH="1">
            <a:off x="7264878" y="5557771"/>
            <a:ext cx="372504" cy="43707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64" name="Google Shape;164;p2"/>
          <p:cNvCxnSpPr/>
          <p:nvPr/>
        </p:nvCxnSpPr>
        <p:spPr>
          <a:xfrm>
            <a:off x="7638278" y="5552426"/>
            <a:ext cx="406804" cy="44241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65" name="Google Shape;165;p2"/>
          <p:cNvSpPr/>
          <p:nvPr/>
        </p:nvSpPr>
        <p:spPr>
          <a:xfrm>
            <a:off x="229969" y="2118997"/>
            <a:ext cx="5551164" cy="3433429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7281146" y="3761265"/>
            <a:ext cx="728473" cy="2332907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2"/>
          <p:cNvCxnSpPr>
            <a:stCxn id="165" idx="2"/>
            <a:endCxn id="166" idx="2"/>
          </p:cNvCxnSpPr>
          <p:nvPr/>
        </p:nvCxnSpPr>
        <p:spPr>
          <a:xfrm flipH="1" rot="-5400000">
            <a:off x="5054551" y="3503426"/>
            <a:ext cx="541800" cy="4639800"/>
          </a:xfrm>
          <a:prstGeom prst="bentConnector3">
            <a:avLst>
              <a:gd fmla="val 142183" name="adj1"/>
            </a:avLst>
          </a:prstGeom>
          <a:noFill/>
          <a:ln cap="flat" cmpd="sng" w="19050">
            <a:solidFill>
              <a:schemeClr val="accent1"/>
            </a:solidFill>
            <a:prstDash val="dot"/>
            <a:miter lim="8000"/>
            <a:headEnd len="med" w="med" type="triangle"/>
            <a:tailEnd len="med" w="med" type="triangle"/>
          </a:ln>
        </p:spPr>
      </p:cxnSp>
      <p:sp>
        <p:nvSpPr>
          <p:cNvPr id="168" name="Google Shape;168;p2"/>
          <p:cNvSpPr txBox="1"/>
          <p:nvPr/>
        </p:nvSpPr>
        <p:spPr>
          <a:xfrm>
            <a:off x="236164" y="641059"/>
            <a:ext cx="10515600" cy="7299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用于环形拓扑的Fabric Card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608e3a107d57c771_0_0"/>
          <p:cNvSpPr/>
          <p:nvPr/>
        </p:nvSpPr>
        <p:spPr>
          <a:xfrm>
            <a:off x="2199325" y="134982"/>
            <a:ext cx="633000" cy="236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h608e3a107d57c771_0_0"/>
          <p:cNvSpPr/>
          <p:nvPr/>
        </p:nvSpPr>
        <p:spPr>
          <a:xfrm>
            <a:off x="1629481" y="371319"/>
            <a:ext cx="2001900" cy="350700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h608e3a107d57c771_0_0"/>
          <p:cNvSpPr/>
          <p:nvPr/>
        </p:nvSpPr>
        <p:spPr>
          <a:xfrm>
            <a:off x="1629481" y="722055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608e3a107d57c771_0_0"/>
          <p:cNvSpPr/>
          <p:nvPr/>
        </p:nvSpPr>
        <p:spPr>
          <a:xfrm>
            <a:off x="1895469" y="722055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h608e3a107d57c771_0_0"/>
          <p:cNvSpPr/>
          <p:nvPr/>
        </p:nvSpPr>
        <p:spPr>
          <a:xfrm>
            <a:off x="2129124" y="726622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h608e3a107d57c771_0_0"/>
          <p:cNvSpPr/>
          <p:nvPr/>
        </p:nvSpPr>
        <p:spPr>
          <a:xfrm>
            <a:off x="2400587" y="726622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h608e3a107d57c771_0_0"/>
          <p:cNvSpPr/>
          <p:nvPr/>
        </p:nvSpPr>
        <p:spPr>
          <a:xfrm>
            <a:off x="2629844" y="726622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h608e3a107d57c771_0_0"/>
          <p:cNvSpPr/>
          <p:nvPr/>
        </p:nvSpPr>
        <p:spPr>
          <a:xfrm>
            <a:off x="2895832" y="726622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h608e3a107d57c771_0_0"/>
          <p:cNvSpPr/>
          <p:nvPr/>
        </p:nvSpPr>
        <p:spPr>
          <a:xfrm>
            <a:off x="3129487" y="731189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h608e3a107d57c771_0_0"/>
          <p:cNvSpPr/>
          <p:nvPr/>
        </p:nvSpPr>
        <p:spPr>
          <a:xfrm>
            <a:off x="3400950" y="731189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h608e3a107d57c771_0_0"/>
          <p:cNvSpPr/>
          <p:nvPr/>
        </p:nvSpPr>
        <p:spPr>
          <a:xfrm>
            <a:off x="4707330" y="129732"/>
            <a:ext cx="633000" cy="236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h608e3a107d57c771_0_0"/>
          <p:cNvSpPr/>
          <p:nvPr/>
        </p:nvSpPr>
        <p:spPr>
          <a:xfrm>
            <a:off x="4137486" y="366069"/>
            <a:ext cx="2001900" cy="350700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h608e3a107d57c771_0_0"/>
          <p:cNvSpPr/>
          <p:nvPr/>
        </p:nvSpPr>
        <p:spPr>
          <a:xfrm>
            <a:off x="4137486" y="716805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h608e3a107d57c771_0_0"/>
          <p:cNvSpPr/>
          <p:nvPr/>
        </p:nvSpPr>
        <p:spPr>
          <a:xfrm>
            <a:off x="4403474" y="716805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h608e3a107d57c771_0_0"/>
          <p:cNvSpPr/>
          <p:nvPr/>
        </p:nvSpPr>
        <p:spPr>
          <a:xfrm>
            <a:off x="4637129" y="721372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h608e3a107d57c771_0_0"/>
          <p:cNvSpPr/>
          <p:nvPr/>
        </p:nvSpPr>
        <p:spPr>
          <a:xfrm>
            <a:off x="4908592" y="721372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h608e3a107d57c771_0_0"/>
          <p:cNvSpPr/>
          <p:nvPr/>
        </p:nvSpPr>
        <p:spPr>
          <a:xfrm>
            <a:off x="5137849" y="721372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h608e3a107d57c771_0_0"/>
          <p:cNvSpPr/>
          <p:nvPr/>
        </p:nvSpPr>
        <p:spPr>
          <a:xfrm>
            <a:off x="5403837" y="721372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h608e3a107d57c771_0_0"/>
          <p:cNvSpPr/>
          <p:nvPr/>
        </p:nvSpPr>
        <p:spPr>
          <a:xfrm>
            <a:off x="5637492" y="725939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h608e3a107d57c771_0_0"/>
          <p:cNvSpPr/>
          <p:nvPr/>
        </p:nvSpPr>
        <p:spPr>
          <a:xfrm>
            <a:off x="5908955" y="725939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h608e3a107d57c771_0_0"/>
          <p:cNvSpPr/>
          <p:nvPr/>
        </p:nvSpPr>
        <p:spPr>
          <a:xfrm>
            <a:off x="2195166" y="1774688"/>
            <a:ext cx="633000" cy="236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h608e3a107d57c771_0_0"/>
          <p:cNvSpPr/>
          <p:nvPr/>
        </p:nvSpPr>
        <p:spPr>
          <a:xfrm>
            <a:off x="1625322" y="2011025"/>
            <a:ext cx="2001900" cy="350700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h608e3a107d57c771_0_0"/>
          <p:cNvSpPr/>
          <p:nvPr/>
        </p:nvSpPr>
        <p:spPr>
          <a:xfrm>
            <a:off x="1625322" y="2381331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h608e3a107d57c771_0_0"/>
          <p:cNvSpPr/>
          <p:nvPr/>
        </p:nvSpPr>
        <p:spPr>
          <a:xfrm>
            <a:off x="1891310" y="2381331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h608e3a107d57c771_0_0"/>
          <p:cNvSpPr/>
          <p:nvPr/>
        </p:nvSpPr>
        <p:spPr>
          <a:xfrm>
            <a:off x="2124965" y="2366328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h608e3a107d57c771_0_0"/>
          <p:cNvSpPr/>
          <p:nvPr/>
        </p:nvSpPr>
        <p:spPr>
          <a:xfrm>
            <a:off x="2396428" y="2366328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h608e3a107d57c771_0_0"/>
          <p:cNvSpPr/>
          <p:nvPr/>
        </p:nvSpPr>
        <p:spPr>
          <a:xfrm>
            <a:off x="2625685" y="2366328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608e3a107d57c771_0_0"/>
          <p:cNvSpPr/>
          <p:nvPr/>
        </p:nvSpPr>
        <p:spPr>
          <a:xfrm>
            <a:off x="2891673" y="2366328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h608e3a107d57c771_0_0"/>
          <p:cNvSpPr/>
          <p:nvPr/>
        </p:nvSpPr>
        <p:spPr>
          <a:xfrm>
            <a:off x="3125328" y="2370895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h608e3a107d57c771_0_0"/>
          <p:cNvSpPr/>
          <p:nvPr/>
        </p:nvSpPr>
        <p:spPr>
          <a:xfrm>
            <a:off x="3396791" y="2370895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h608e3a107d57c771_0_0"/>
          <p:cNvSpPr/>
          <p:nvPr/>
        </p:nvSpPr>
        <p:spPr>
          <a:xfrm>
            <a:off x="4703171" y="1769438"/>
            <a:ext cx="633000" cy="236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h608e3a107d57c771_0_0"/>
          <p:cNvSpPr/>
          <p:nvPr/>
        </p:nvSpPr>
        <p:spPr>
          <a:xfrm>
            <a:off x="4133327" y="2005775"/>
            <a:ext cx="2001900" cy="350700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h608e3a107d57c771_0_0"/>
          <p:cNvSpPr/>
          <p:nvPr/>
        </p:nvSpPr>
        <p:spPr>
          <a:xfrm>
            <a:off x="4133327" y="2356511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h608e3a107d57c771_0_0"/>
          <p:cNvSpPr/>
          <p:nvPr/>
        </p:nvSpPr>
        <p:spPr>
          <a:xfrm>
            <a:off x="4399315" y="2356511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h608e3a107d57c771_0_0"/>
          <p:cNvSpPr/>
          <p:nvPr/>
        </p:nvSpPr>
        <p:spPr>
          <a:xfrm>
            <a:off x="4632970" y="2361078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h608e3a107d57c771_0_0"/>
          <p:cNvSpPr/>
          <p:nvPr/>
        </p:nvSpPr>
        <p:spPr>
          <a:xfrm>
            <a:off x="4904433" y="2361078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h608e3a107d57c771_0_0"/>
          <p:cNvSpPr/>
          <p:nvPr/>
        </p:nvSpPr>
        <p:spPr>
          <a:xfrm>
            <a:off x="5133690" y="2361078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h608e3a107d57c771_0_0"/>
          <p:cNvSpPr/>
          <p:nvPr/>
        </p:nvSpPr>
        <p:spPr>
          <a:xfrm>
            <a:off x="5399678" y="2361078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h608e3a107d57c771_0_0"/>
          <p:cNvSpPr/>
          <p:nvPr/>
        </p:nvSpPr>
        <p:spPr>
          <a:xfrm>
            <a:off x="5633333" y="2365645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h608e3a107d57c771_0_0"/>
          <p:cNvSpPr/>
          <p:nvPr/>
        </p:nvSpPr>
        <p:spPr>
          <a:xfrm>
            <a:off x="5904796" y="2365645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h608e3a107d57c771_0_0"/>
          <p:cNvSpPr/>
          <p:nvPr/>
        </p:nvSpPr>
        <p:spPr>
          <a:xfrm>
            <a:off x="2199325" y="3499409"/>
            <a:ext cx="633000" cy="236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h608e3a107d57c771_0_0"/>
          <p:cNvSpPr/>
          <p:nvPr/>
        </p:nvSpPr>
        <p:spPr>
          <a:xfrm>
            <a:off x="1629481" y="3755315"/>
            <a:ext cx="2001900" cy="350700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h608e3a107d57c771_0_0"/>
          <p:cNvSpPr/>
          <p:nvPr/>
        </p:nvSpPr>
        <p:spPr>
          <a:xfrm>
            <a:off x="1629481" y="4106051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h608e3a107d57c771_0_0"/>
          <p:cNvSpPr/>
          <p:nvPr/>
        </p:nvSpPr>
        <p:spPr>
          <a:xfrm>
            <a:off x="1895469" y="4106051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h608e3a107d57c771_0_0"/>
          <p:cNvSpPr/>
          <p:nvPr/>
        </p:nvSpPr>
        <p:spPr>
          <a:xfrm>
            <a:off x="2129124" y="4110618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h608e3a107d57c771_0_0"/>
          <p:cNvSpPr/>
          <p:nvPr/>
        </p:nvSpPr>
        <p:spPr>
          <a:xfrm>
            <a:off x="2400587" y="4110618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h608e3a107d57c771_0_0"/>
          <p:cNvSpPr/>
          <p:nvPr/>
        </p:nvSpPr>
        <p:spPr>
          <a:xfrm>
            <a:off x="2629844" y="4110618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h608e3a107d57c771_0_0"/>
          <p:cNvSpPr/>
          <p:nvPr/>
        </p:nvSpPr>
        <p:spPr>
          <a:xfrm>
            <a:off x="2895832" y="4110618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h608e3a107d57c771_0_0"/>
          <p:cNvSpPr/>
          <p:nvPr/>
        </p:nvSpPr>
        <p:spPr>
          <a:xfrm>
            <a:off x="3129487" y="4115185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h608e3a107d57c771_0_0"/>
          <p:cNvSpPr/>
          <p:nvPr/>
        </p:nvSpPr>
        <p:spPr>
          <a:xfrm>
            <a:off x="3400950" y="4115185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h608e3a107d57c771_0_0"/>
          <p:cNvSpPr/>
          <p:nvPr/>
        </p:nvSpPr>
        <p:spPr>
          <a:xfrm>
            <a:off x="4707330" y="3494159"/>
            <a:ext cx="633000" cy="236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h608e3a107d57c771_0_0"/>
          <p:cNvSpPr/>
          <p:nvPr/>
        </p:nvSpPr>
        <p:spPr>
          <a:xfrm>
            <a:off x="4137486" y="3750065"/>
            <a:ext cx="2001900" cy="350700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h608e3a107d57c771_0_0"/>
          <p:cNvSpPr/>
          <p:nvPr/>
        </p:nvSpPr>
        <p:spPr>
          <a:xfrm>
            <a:off x="4137486" y="4100801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h608e3a107d57c771_0_0"/>
          <p:cNvSpPr/>
          <p:nvPr/>
        </p:nvSpPr>
        <p:spPr>
          <a:xfrm>
            <a:off x="4403474" y="4100801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h608e3a107d57c771_0_0"/>
          <p:cNvSpPr/>
          <p:nvPr/>
        </p:nvSpPr>
        <p:spPr>
          <a:xfrm>
            <a:off x="4637129" y="4105368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h608e3a107d57c771_0_0"/>
          <p:cNvSpPr/>
          <p:nvPr/>
        </p:nvSpPr>
        <p:spPr>
          <a:xfrm>
            <a:off x="4908592" y="4105368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h608e3a107d57c771_0_0"/>
          <p:cNvSpPr/>
          <p:nvPr/>
        </p:nvSpPr>
        <p:spPr>
          <a:xfrm>
            <a:off x="5137849" y="4105368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h608e3a107d57c771_0_0"/>
          <p:cNvSpPr/>
          <p:nvPr/>
        </p:nvSpPr>
        <p:spPr>
          <a:xfrm>
            <a:off x="5403837" y="4105368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h608e3a107d57c771_0_0"/>
          <p:cNvSpPr/>
          <p:nvPr/>
        </p:nvSpPr>
        <p:spPr>
          <a:xfrm>
            <a:off x="5637492" y="4109935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h608e3a107d57c771_0_0"/>
          <p:cNvSpPr/>
          <p:nvPr/>
        </p:nvSpPr>
        <p:spPr>
          <a:xfrm>
            <a:off x="5908955" y="4109935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h608e3a107d57c771_0_0"/>
          <p:cNvCxnSpPr/>
          <p:nvPr/>
        </p:nvCxnSpPr>
        <p:spPr>
          <a:xfrm flipH="1">
            <a:off x="2021936" y="1515231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h608e3a107d57c771_0_0"/>
          <p:cNvSpPr/>
          <p:nvPr/>
        </p:nvSpPr>
        <p:spPr>
          <a:xfrm>
            <a:off x="2175597" y="5080406"/>
            <a:ext cx="633000" cy="236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h608e3a107d57c771_0_0"/>
          <p:cNvSpPr/>
          <p:nvPr/>
        </p:nvSpPr>
        <p:spPr>
          <a:xfrm>
            <a:off x="1605753" y="5336312"/>
            <a:ext cx="2001900" cy="350700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h608e3a107d57c771_0_0"/>
          <p:cNvSpPr/>
          <p:nvPr/>
        </p:nvSpPr>
        <p:spPr>
          <a:xfrm>
            <a:off x="1605753" y="5687048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h608e3a107d57c771_0_0"/>
          <p:cNvSpPr/>
          <p:nvPr/>
        </p:nvSpPr>
        <p:spPr>
          <a:xfrm>
            <a:off x="1871741" y="5687048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h608e3a107d57c771_0_0"/>
          <p:cNvSpPr/>
          <p:nvPr/>
        </p:nvSpPr>
        <p:spPr>
          <a:xfrm>
            <a:off x="2105396" y="5691615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h608e3a107d57c771_0_0"/>
          <p:cNvSpPr/>
          <p:nvPr/>
        </p:nvSpPr>
        <p:spPr>
          <a:xfrm>
            <a:off x="2376859" y="5691615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h608e3a107d57c771_0_0"/>
          <p:cNvSpPr/>
          <p:nvPr/>
        </p:nvSpPr>
        <p:spPr>
          <a:xfrm>
            <a:off x="2606116" y="5691615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h608e3a107d57c771_0_0"/>
          <p:cNvSpPr/>
          <p:nvPr/>
        </p:nvSpPr>
        <p:spPr>
          <a:xfrm>
            <a:off x="2872104" y="5691615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h608e3a107d57c771_0_0"/>
          <p:cNvSpPr/>
          <p:nvPr/>
        </p:nvSpPr>
        <p:spPr>
          <a:xfrm>
            <a:off x="3105759" y="5696182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h608e3a107d57c771_0_0"/>
          <p:cNvSpPr/>
          <p:nvPr/>
        </p:nvSpPr>
        <p:spPr>
          <a:xfrm>
            <a:off x="3377222" y="5696182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h608e3a107d57c771_0_0"/>
          <p:cNvSpPr/>
          <p:nvPr/>
        </p:nvSpPr>
        <p:spPr>
          <a:xfrm>
            <a:off x="4683602" y="5075156"/>
            <a:ext cx="633000" cy="236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h608e3a107d57c771_0_0"/>
          <p:cNvSpPr/>
          <p:nvPr/>
        </p:nvSpPr>
        <p:spPr>
          <a:xfrm>
            <a:off x="4113758" y="5331062"/>
            <a:ext cx="2001900" cy="350700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h608e3a107d57c771_0_0"/>
          <p:cNvSpPr/>
          <p:nvPr/>
        </p:nvSpPr>
        <p:spPr>
          <a:xfrm>
            <a:off x="4113758" y="5681798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h608e3a107d57c771_0_0"/>
          <p:cNvSpPr/>
          <p:nvPr/>
        </p:nvSpPr>
        <p:spPr>
          <a:xfrm>
            <a:off x="4379746" y="5681798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h608e3a107d57c771_0_0"/>
          <p:cNvSpPr/>
          <p:nvPr/>
        </p:nvSpPr>
        <p:spPr>
          <a:xfrm>
            <a:off x="4613401" y="5686365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h608e3a107d57c771_0_0"/>
          <p:cNvSpPr/>
          <p:nvPr/>
        </p:nvSpPr>
        <p:spPr>
          <a:xfrm>
            <a:off x="4884864" y="5686365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h608e3a107d57c771_0_0"/>
          <p:cNvSpPr/>
          <p:nvPr/>
        </p:nvSpPr>
        <p:spPr>
          <a:xfrm>
            <a:off x="5114121" y="5686365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h608e3a107d57c771_0_0"/>
          <p:cNvSpPr/>
          <p:nvPr/>
        </p:nvSpPr>
        <p:spPr>
          <a:xfrm>
            <a:off x="5380109" y="5686365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h608e3a107d57c771_0_0"/>
          <p:cNvSpPr/>
          <p:nvPr/>
        </p:nvSpPr>
        <p:spPr>
          <a:xfrm>
            <a:off x="5613764" y="5690932"/>
            <a:ext cx="263700" cy="729900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h608e3a107d57c771_0_0"/>
          <p:cNvSpPr/>
          <p:nvPr/>
        </p:nvSpPr>
        <p:spPr>
          <a:xfrm>
            <a:off x="5885227" y="5690932"/>
            <a:ext cx="230400" cy="844500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h608e3a107d57c771_0_0"/>
          <p:cNvCxnSpPr/>
          <p:nvPr/>
        </p:nvCxnSpPr>
        <p:spPr>
          <a:xfrm flipH="1">
            <a:off x="2507023" y="1491503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h608e3a107d57c771_0_0"/>
          <p:cNvCxnSpPr/>
          <p:nvPr/>
        </p:nvCxnSpPr>
        <p:spPr>
          <a:xfrm flipH="1">
            <a:off x="3015838" y="1491503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h608e3a107d57c771_0_0"/>
          <p:cNvCxnSpPr/>
          <p:nvPr/>
        </p:nvCxnSpPr>
        <p:spPr>
          <a:xfrm flipH="1">
            <a:off x="3500925" y="1467774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h608e3a107d57c771_0_0"/>
          <p:cNvCxnSpPr/>
          <p:nvPr/>
        </p:nvCxnSpPr>
        <p:spPr>
          <a:xfrm flipH="1">
            <a:off x="4542285" y="1511073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h608e3a107d57c771_0_0"/>
          <p:cNvCxnSpPr/>
          <p:nvPr/>
        </p:nvCxnSpPr>
        <p:spPr>
          <a:xfrm flipH="1">
            <a:off x="5027372" y="1487344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h608e3a107d57c771_0_0"/>
          <p:cNvCxnSpPr/>
          <p:nvPr/>
        </p:nvCxnSpPr>
        <p:spPr>
          <a:xfrm flipH="1">
            <a:off x="5536187" y="1487344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h608e3a107d57c771_0_0"/>
          <p:cNvCxnSpPr/>
          <p:nvPr/>
        </p:nvCxnSpPr>
        <p:spPr>
          <a:xfrm flipH="1">
            <a:off x="6021274" y="1463616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h608e3a107d57c771_0_0"/>
          <p:cNvCxnSpPr/>
          <p:nvPr/>
        </p:nvCxnSpPr>
        <p:spPr>
          <a:xfrm flipH="1">
            <a:off x="2037347" y="3213647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h608e3a107d57c771_0_0"/>
          <p:cNvCxnSpPr/>
          <p:nvPr/>
        </p:nvCxnSpPr>
        <p:spPr>
          <a:xfrm flipH="1">
            <a:off x="2522434" y="3189919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h608e3a107d57c771_0_0"/>
          <p:cNvCxnSpPr/>
          <p:nvPr/>
        </p:nvCxnSpPr>
        <p:spPr>
          <a:xfrm flipH="1">
            <a:off x="3031250" y="3189919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h608e3a107d57c771_0_0"/>
          <p:cNvCxnSpPr/>
          <p:nvPr/>
        </p:nvCxnSpPr>
        <p:spPr>
          <a:xfrm flipH="1">
            <a:off x="3516337" y="3166190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h608e3a107d57c771_0_0"/>
          <p:cNvCxnSpPr/>
          <p:nvPr/>
        </p:nvCxnSpPr>
        <p:spPr>
          <a:xfrm flipH="1">
            <a:off x="4557696" y="3209489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h608e3a107d57c771_0_0"/>
          <p:cNvCxnSpPr/>
          <p:nvPr/>
        </p:nvCxnSpPr>
        <p:spPr>
          <a:xfrm flipH="1">
            <a:off x="5042783" y="3185760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h608e3a107d57c771_0_0"/>
          <p:cNvCxnSpPr/>
          <p:nvPr/>
        </p:nvCxnSpPr>
        <p:spPr>
          <a:xfrm flipH="1">
            <a:off x="5551598" y="3185760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h608e3a107d57c771_0_0"/>
          <p:cNvCxnSpPr/>
          <p:nvPr/>
        </p:nvCxnSpPr>
        <p:spPr>
          <a:xfrm flipH="1">
            <a:off x="6036685" y="3162032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h608e3a107d57c771_0_0"/>
          <p:cNvCxnSpPr/>
          <p:nvPr/>
        </p:nvCxnSpPr>
        <p:spPr>
          <a:xfrm flipH="1">
            <a:off x="2013619" y="4853354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h608e3a107d57c771_0_0"/>
          <p:cNvCxnSpPr/>
          <p:nvPr/>
        </p:nvCxnSpPr>
        <p:spPr>
          <a:xfrm flipH="1">
            <a:off x="2498706" y="4829625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h608e3a107d57c771_0_0"/>
          <p:cNvCxnSpPr/>
          <p:nvPr/>
        </p:nvCxnSpPr>
        <p:spPr>
          <a:xfrm flipH="1">
            <a:off x="3007521" y="4829625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h608e3a107d57c771_0_0"/>
          <p:cNvCxnSpPr/>
          <p:nvPr/>
        </p:nvCxnSpPr>
        <p:spPr>
          <a:xfrm flipH="1">
            <a:off x="3492608" y="4805897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h608e3a107d57c771_0_0"/>
          <p:cNvCxnSpPr/>
          <p:nvPr/>
        </p:nvCxnSpPr>
        <p:spPr>
          <a:xfrm flipH="1">
            <a:off x="4533967" y="4849195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h608e3a107d57c771_0_0"/>
          <p:cNvCxnSpPr/>
          <p:nvPr/>
        </p:nvCxnSpPr>
        <p:spPr>
          <a:xfrm flipH="1">
            <a:off x="5019054" y="4825467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h608e3a107d57c771_0_0"/>
          <p:cNvCxnSpPr/>
          <p:nvPr/>
        </p:nvCxnSpPr>
        <p:spPr>
          <a:xfrm flipH="1">
            <a:off x="5527870" y="4825467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h608e3a107d57c771_0_0"/>
          <p:cNvCxnSpPr/>
          <p:nvPr/>
        </p:nvCxnSpPr>
        <p:spPr>
          <a:xfrm flipH="1">
            <a:off x="6012957" y="4801738"/>
            <a:ext cx="4200" cy="929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h608e3a107d57c771_0_0"/>
          <p:cNvCxnSpPr/>
          <p:nvPr/>
        </p:nvCxnSpPr>
        <p:spPr>
          <a:xfrm>
            <a:off x="1746966" y="1090770"/>
            <a:ext cx="58200" cy="5110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h608e3a107d57c771_0_0"/>
          <p:cNvCxnSpPr/>
          <p:nvPr/>
        </p:nvCxnSpPr>
        <p:spPr>
          <a:xfrm flipH="1" rot="10800000">
            <a:off x="1746966" y="999860"/>
            <a:ext cx="174600" cy="131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h608e3a107d57c771_0_0"/>
          <p:cNvCxnSpPr/>
          <p:nvPr/>
        </p:nvCxnSpPr>
        <p:spPr>
          <a:xfrm>
            <a:off x="1784831" y="6180580"/>
            <a:ext cx="254100" cy="83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h608e3a107d57c771_0_0"/>
          <p:cNvCxnSpPr/>
          <p:nvPr/>
        </p:nvCxnSpPr>
        <p:spPr>
          <a:xfrm>
            <a:off x="2232053" y="1086611"/>
            <a:ext cx="58200" cy="5110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h608e3a107d57c771_0_0"/>
          <p:cNvCxnSpPr/>
          <p:nvPr/>
        </p:nvCxnSpPr>
        <p:spPr>
          <a:xfrm flipH="1" rot="10800000">
            <a:off x="2232053" y="995702"/>
            <a:ext cx="174600" cy="131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h608e3a107d57c771_0_0"/>
          <p:cNvCxnSpPr/>
          <p:nvPr/>
        </p:nvCxnSpPr>
        <p:spPr>
          <a:xfrm>
            <a:off x="2269918" y="6176422"/>
            <a:ext cx="254100" cy="83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h608e3a107d57c771_0_0"/>
          <p:cNvCxnSpPr/>
          <p:nvPr/>
        </p:nvCxnSpPr>
        <p:spPr>
          <a:xfrm>
            <a:off x="2697570" y="1102022"/>
            <a:ext cx="58200" cy="5110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h608e3a107d57c771_0_0"/>
          <p:cNvCxnSpPr/>
          <p:nvPr/>
        </p:nvCxnSpPr>
        <p:spPr>
          <a:xfrm flipH="1" rot="10800000">
            <a:off x="2697570" y="1011113"/>
            <a:ext cx="174600" cy="131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h608e3a107d57c771_0_0"/>
          <p:cNvCxnSpPr/>
          <p:nvPr/>
        </p:nvCxnSpPr>
        <p:spPr>
          <a:xfrm>
            <a:off x="2735435" y="6191833"/>
            <a:ext cx="254100" cy="83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h608e3a107d57c771_0_0"/>
          <p:cNvCxnSpPr/>
          <p:nvPr/>
        </p:nvCxnSpPr>
        <p:spPr>
          <a:xfrm>
            <a:off x="3202226" y="1078294"/>
            <a:ext cx="58200" cy="5110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h608e3a107d57c771_0_0"/>
          <p:cNvCxnSpPr/>
          <p:nvPr/>
        </p:nvCxnSpPr>
        <p:spPr>
          <a:xfrm flipH="1" rot="10800000">
            <a:off x="3202226" y="987385"/>
            <a:ext cx="174600" cy="131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h608e3a107d57c771_0_0"/>
          <p:cNvCxnSpPr/>
          <p:nvPr/>
        </p:nvCxnSpPr>
        <p:spPr>
          <a:xfrm>
            <a:off x="3240092" y="6168104"/>
            <a:ext cx="254100" cy="83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h608e3a107d57c771_0_0"/>
          <p:cNvCxnSpPr/>
          <p:nvPr/>
        </p:nvCxnSpPr>
        <p:spPr>
          <a:xfrm>
            <a:off x="4293978" y="1054566"/>
            <a:ext cx="58200" cy="5110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h608e3a107d57c771_0_0"/>
          <p:cNvCxnSpPr/>
          <p:nvPr/>
        </p:nvCxnSpPr>
        <p:spPr>
          <a:xfrm flipH="1" rot="10800000">
            <a:off x="4293978" y="963656"/>
            <a:ext cx="174600" cy="131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h608e3a107d57c771_0_0"/>
          <p:cNvCxnSpPr/>
          <p:nvPr/>
        </p:nvCxnSpPr>
        <p:spPr>
          <a:xfrm>
            <a:off x="4331843" y="6144376"/>
            <a:ext cx="254100" cy="83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h608e3a107d57c771_0_0"/>
          <p:cNvCxnSpPr/>
          <p:nvPr/>
        </p:nvCxnSpPr>
        <p:spPr>
          <a:xfrm>
            <a:off x="4818205" y="1030837"/>
            <a:ext cx="58200" cy="5110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h608e3a107d57c771_0_0"/>
          <p:cNvCxnSpPr/>
          <p:nvPr/>
        </p:nvCxnSpPr>
        <p:spPr>
          <a:xfrm flipH="1" rot="10800000">
            <a:off x="4818205" y="939928"/>
            <a:ext cx="174600" cy="131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h608e3a107d57c771_0_0"/>
          <p:cNvCxnSpPr/>
          <p:nvPr/>
        </p:nvCxnSpPr>
        <p:spPr>
          <a:xfrm>
            <a:off x="4856070" y="6120648"/>
            <a:ext cx="254100" cy="83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h608e3a107d57c771_0_0"/>
          <p:cNvCxnSpPr/>
          <p:nvPr/>
        </p:nvCxnSpPr>
        <p:spPr>
          <a:xfrm>
            <a:off x="5283722" y="1046249"/>
            <a:ext cx="58200" cy="5110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h608e3a107d57c771_0_0"/>
          <p:cNvCxnSpPr/>
          <p:nvPr/>
        </p:nvCxnSpPr>
        <p:spPr>
          <a:xfrm flipH="1" rot="10800000">
            <a:off x="5283722" y="955339"/>
            <a:ext cx="174600" cy="131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h608e3a107d57c771_0_0"/>
          <p:cNvCxnSpPr/>
          <p:nvPr/>
        </p:nvCxnSpPr>
        <p:spPr>
          <a:xfrm>
            <a:off x="5321587" y="6136059"/>
            <a:ext cx="254100" cy="83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h608e3a107d57c771_0_0"/>
          <p:cNvCxnSpPr/>
          <p:nvPr/>
        </p:nvCxnSpPr>
        <p:spPr>
          <a:xfrm>
            <a:off x="5768809" y="1022520"/>
            <a:ext cx="58200" cy="5110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h608e3a107d57c771_0_0"/>
          <p:cNvCxnSpPr/>
          <p:nvPr/>
        </p:nvCxnSpPr>
        <p:spPr>
          <a:xfrm flipH="1" rot="10800000">
            <a:off x="5768809" y="931611"/>
            <a:ext cx="174600" cy="131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h608e3a107d57c771_0_0"/>
          <p:cNvCxnSpPr/>
          <p:nvPr/>
        </p:nvCxnSpPr>
        <p:spPr>
          <a:xfrm>
            <a:off x="5806674" y="6112330"/>
            <a:ext cx="254100" cy="83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h608e3a107d57c771_0_0"/>
          <p:cNvSpPr txBox="1"/>
          <p:nvPr>
            <p:ph type="title"/>
          </p:nvPr>
        </p:nvSpPr>
        <p:spPr>
          <a:xfrm>
            <a:off x="7016360" y="467533"/>
            <a:ext cx="41103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晶格互联</a:t>
            </a:r>
            <a:endParaRPr/>
          </a:p>
        </p:txBody>
      </p:sp>
      <p:sp>
        <p:nvSpPr>
          <p:cNvPr id="303" name="Google Shape;303;h608e3a107d57c771_0_0"/>
          <p:cNvSpPr txBox="1"/>
          <p:nvPr>
            <p:ph idx="1" type="body"/>
          </p:nvPr>
        </p:nvSpPr>
        <p:spPr>
          <a:xfrm>
            <a:off x="7202261" y="1665033"/>
            <a:ext cx="44541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- </a:t>
            </a:r>
            <a:r>
              <a:rPr lang="en-US"/>
              <a:t>8 机 64 卡推理小集群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- </a:t>
            </a:r>
            <a:r>
              <a:rPr lang="en-US"/>
              <a:t>Kimi K3 on 64 AMD R9700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- Lattice-NCCL 数据交换 library, 提供 NCCL 兼容 API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- Lattice-Attention, 基于晶格互联的Attention 加速算法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"/>
          <p:cNvSpPr/>
          <p:nvPr/>
        </p:nvSpPr>
        <p:spPr>
          <a:xfrm>
            <a:off x="8650165" y="1477479"/>
            <a:ext cx="1069675" cy="49458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"/>
          <p:cNvSpPr/>
          <p:nvPr/>
        </p:nvSpPr>
        <p:spPr>
          <a:xfrm>
            <a:off x="6806987" y="2489644"/>
            <a:ext cx="4756030" cy="1144438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PCIe Switch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4"/>
          <p:cNvCxnSpPr>
            <a:stCxn id="309" idx="2"/>
            <a:endCxn id="310" idx="0"/>
          </p:cNvCxnSpPr>
          <p:nvPr/>
        </p:nvCxnSpPr>
        <p:spPr>
          <a:xfrm>
            <a:off x="9185003" y="1972059"/>
            <a:ext cx="0" cy="517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2" name="Google Shape;312;p4"/>
          <p:cNvSpPr/>
          <p:nvPr/>
        </p:nvSpPr>
        <p:spPr>
          <a:xfrm>
            <a:off x="6806987" y="4039522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"/>
          <p:cNvSpPr/>
          <p:nvPr/>
        </p:nvSpPr>
        <p:spPr>
          <a:xfrm>
            <a:off x="7426035" y="4039522"/>
            <a:ext cx="422695" cy="151824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"/>
          <p:cNvSpPr/>
          <p:nvPr/>
        </p:nvSpPr>
        <p:spPr>
          <a:xfrm>
            <a:off x="8045083" y="4039522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"/>
          <p:cNvSpPr/>
          <p:nvPr/>
        </p:nvSpPr>
        <p:spPr>
          <a:xfrm>
            <a:off x="9283179" y="4039522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"/>
          <p:cNvSpPr/>
          <p:nvPr/>
        </p:nvSpPr>
        <p:spPr>
          <a:xfrm>
            <a:off x="9902227" y="4039522"/>
            <a:ext cx="422695" cy="151824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"/>
          <p:cNvSpPr/>
          <p:nvPr/>
        </p:nvSpPr>
        <p:spPr>
          <a:xfrm>
            <a:off x="11140322" y="4039522"/>
            <a:ext cx="422695" cy="151824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"/>
          <p:cNvSpPr/>
          <p:nvPr/>
        </p:nvSpPr>
        <p:spPr>
          <a:xfrm>
            <a:off x="8664131" y="4039522"/>
            <a:ext cx="422695" cy="151824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"/>
          <p:cNvSpPr/>
          <p:nvPr/>
        </p:nvSpPr>
        <p:spPr>
          <a:xfrm>
            <a:off x="10521275" y="4039522"/>
            <a:ext cx="422695" cy="1518249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4"/>
          <p:cNvCxnSpPr/>
          <p:nvPr/>
        </p:nvCxnSpPr>
        <p:spPr>
          <a:xfrm flipH="1">
            <a:off x="7001080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1" name="Google Shape;321;p4"/>
          <p:cNvCxnSpPr/>
          <p:nvPr/>
        </p:nvCxnSpPr>
        <p:spPr>
          <a:xfrm flipH="1">
            <a:off x="7626194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2" name="Google Shape;322;p4"/>
          <p:cNvCxnSpPr/>
          <p:nvPr/>
        </p:nvCxnSpPr>
        <p:spPr>
          <a:xfrm flipH="1">
            <a:off x="8251308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3" name="Google Shape;323;p4"/>
          <p:cNvCxnSpPr/>
          <p:nvPr/>
        </p:nvCxnSpPr>
        <p:spPr>
          <a:xfrm flipH="1">
            <a:off x="8876422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4" name="Google Shape;324;p4"/>
          <p:cNvCxnSpPr/>
          <p:nvPr/>
        </p:nvCxnSpPr>
        <p:spPr>
          <a:xfrm flipH="1">
            <a:off x="9501536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5" name="Google Shape;325;p4"/>
          <p:cNvCxnSpPr/>
          <p:nvPr/>
        </p:nvCxnSpPr>
        <p:spPr>
          <a:xfrm flipH="1">
            <a:off x="10126650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6" name="Google Shape;326;p4"/>
          <p:cNvCxnSpPr/>
          <p:nvPr/>
        </p:nvCxnSpPr>
        <p:spPr>
          <a:xfrm flipH="1">
            <a:off x="10751764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7" name="Google Shape;327;p4"/>
          <p:cNvCxnSpPr/>
          <p:nvPr/>
        </p:nvCxnSpPr>
        <p:spPr>
          <a:xfrm flipH="1">
            <a:off x="11376881" y="3578008"/>
            <a:ext cx="1" cy="5175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8" name="Google Shape;328;p4"/>
          <p:cNvSpPr/>
          <p:nvPr/>
        </p:nvSpPr>
        <p:spPr>
          <a:xfrm>
            <a:off x="713869" y="2817452"/>
            <a:ext cx="4629508" cy="1929438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"/>
          <p:cNvSpPr/>
          <p:nvPr/>
        </p:nvSpPr>
        <p:spPr>
          <a:xfrm>
            <a:off x="1079054" y="4746890"/>
            <a:ext cx="2714445" cy="359437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PCIe 16X 金手指 GF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"/>
          <p:cNvSpPr/>
          <p:nvPr/>
        </p:nvSpPr>
        <p:spPr>
          <a:xfrm>
            <a:off x="2265541" y="3100184"/>
            <a:ext cx="1196159" cy="1257299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Retimer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4"/>
          <p:cNvCxnSpPr/>
          <p:nvPr/>
        </p:nvCxnSpPr>
        <p:spPr>
          <a:xfrm rot="10800000">
            <a:off x="2942359" y="4297959"/>
            <a:ext cx="0" cy="448931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32" name="Google Shape;332;p4"/>
          <p:cNvSpPr/>
          <p:nvPr/>
        </p:nvSpPr>
        <p:spPr>
          <a:xfrm>
            <a:off x="562960" y="3238158"/>
            <a:ext cx="1357533" cy="1088025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16X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外联接口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4"/>
          <p:cNvCxnSpPr/>
          <p:nvPr/>
        </p:nvCxnSpPr>
        <p:spPr>
          <a:xfrm rot="10800000">
            <a:off x="1860758" y="3726249"/>
            <a:ext cx="534837" cy="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34" name="Google Shape;334;p4"/>
          <p:cNvSpPr txBox="1"/>
          <p:nvPr/>
        </p:nvSpPr>
        <p:spPr>
          <a:xfrm>
            <a:off x="2883085" y="4345927"/>
            <a:ext cx="5613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16X</a:t>
            </a:r>
            <a:endParaRPr sz="18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"/>
          <p:cNvSpPr txBox="1"/>
          <p:nvPr/>
        </p:nvSpPr>
        <p:spPr>
          <a:xfrm>
            <a:off x="1833900" y="3715267"/>
            <a:ext cx="5613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16X</a:t>
            </a:r>
            <a:endParaRPr sz="18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4"/>
          <p:cNvCxnSpPr>
            <a:endCxn id="337" idx="2"/>
          </p:cNvCxnSpPr>
          <p:nvPr/>
        </p:nvCxnSpPr>
        <p:spPr>
          <a:xfrm>
            <a:off x="7638183" y="5552372"/>
            <a:ext cx="7200" cy="541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38" name="Google Shape;338;p4"/>
          <p:cNvSpPr/>
          <p:nvPr/>
        </p:nvSpPr>
        <p:spPr>
          <a:xfrm>
            <a:off x="229969" y="2118997"/>
            <a:ext cx="5551164" cy="3433429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"/>
          <p:cNvSpPr/>
          <p:nvPr/>
        </p:nvSpPr>
        <p:spPr>
          <a:xfrm>
            <a:off x="7281146" y="3761265"/>
            <a:ext cx="728473" cy="2332907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4"/>
          <p:cNvCxnSpPr>
            <a:stCxn id="338" idx="2"/>
            <a:endCxn id="337" idx="2"/>
          </p:cNvCxnSpPr>
          <p:nvPr/>
        </p:nvCxnSpPr>
        <p:spPr>
          <a:xfrm flipH="1" rot="-5400000">
            <a:off x="5054551" y="3503426"/>
            <a:ext cx="541800" cy="4639800"/>
          </a:xfrm>
          <a:prstGeom prst="bentConnector3">
            <a:avLst>
              <a:gd fmla="val 142183" name="adj1"/>
            </a:avLst>
          </a:prstGeom>
          <a:noFill/>
          <a:ln cap="flat" cmpd="sng" w="19050">
            <a:solidFill>
              <a:schemeClr val="accent1"/>
            </a:solidFill>
            <a:prstDash val="dot"/>
            <a:miter lim="8000"/>
            <a:headEnd len="med" w="med" type="triangle"/>
            <a:tailEnd len="med" w="med" type="triangle"/>
          </a:ln>
        </p:spPr>
      </p:cxnSp>
      <p:sp>
        <p:nvSpPr>
          <p:cNvPr id="340" name="Google Shape;340;p4"/>
          <p:cNvSpPr txBox="1"/>
          <p:nvPr/>
        </p:nvSpPr>
        <p:spPr>
          <a:xfrm>
            <a:off x="236164" y="641059"/>
            <a:ext cx="10515600" cy="7299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用于星拓扑的Fabric Card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"/>
          <p:cNvSpPr txBox="1"/>
          <p:nvPr/>
        </p:nvSpPr>
        <p:spPr>
          <a:xfrm>
            <a:off x="236164" y="641059"/>
            <a:ext cx="10515600" cy="7299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用于星拓扑的南向中心交换机</a:t>
            </a:r>
            <a:endParaRPr/>
          </a:p>
        </p:txBody>
      </p:sp>
      <p:sp>
        <p:nvSpPr>
          <p:cNvPr id="347" name="Google Shape;347;p5"/>
          <p:cNvSpPr/>
          <p:nvPr/>
        </p:nvSpPr>
        <p:spPr>
          <a:xfrm>
            <a:off x="2339022" y="2624672"/>
            <a:ext cx="6832356" cy="2528058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Center Fabric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PCIe Switch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"/>
          <p:cNvSpPr/>
          <p:nvPr/>
        </p:nvSpPr>
        <p:spPr>
          <a:xfrm>
            <a:off x="3703618" y="3517502"/>
            <a:ext cx="972416" cy="742398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管理CPU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"/>
          <p:cNvSpPr/>
          <p:nvPr/>
        </p:nvSpPr>
        <p:spPr>
          <a:xfrm>
            <a:off x="7285864" y="3641411"/>
            <a:ext cx="729281" cy="494580"/>
          </a:xfrm>
          <a:prstGeom prst="rect">
            <a:avLst/>
          </a:prstGeom>
          <a:solidFill>
            <a:srgbClr val="D9E5F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BMC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"/>
          <p:cNvSpPr/>
          <p:nvPr/>
        </p:nvSpPr>
        <p:spPr>
          <a:xfrm>
            <a:off x="2944605" y="2154810"/>
            <a:ext cx="824780" cy="1088025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16X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外联接口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5"/>
          <p:cNvSpPr/>
          <p:nvPr/>
        </p:nvSpPr>
        <p:spPr>
          <a:xfrm>
            <a:off x="4676034" y="2154810"/>
            <a:ext cx="824780" cy="1088025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16X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外联接口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5"/>
          <p:cNvSpPr/>
          <p:nvPr/>
        </p:nvSpPr>
        <p:spPr>
          <a:xfrm>
            <a:off x="6407463" y="2154810"/>
            <a:ext cx="824780" cy="1088025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16X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外联接口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5"/>
          <p:cNvSpPr/>
          <p:nvPr/>
        </p:nvSpPr>
        <p:spPr>
          <a:xfrm>
            <a:off x="8138891" y="2154810"/>
            <a:ext cx="824780" cy="1088025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16X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外联接口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"/>
          <p:cNvSpPr/>
          <p:nvPr/>
        </p:nvSpPr>
        <p:spPr>
          <a:xfrm>
            <a:off x="2944605" y="4682648"/>
            <a:ext cx="824780" cy="1088025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16X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外联接口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"/>
          <p:cNvSpPr/>
          <p:nvPr/>
        </p:nvSpPr>
        <p:spPr>
          <a:xfrm>
            <a:off x="4676034" y="4682648"/>
            <a:ext cx="824780" cy="1088025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16X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外联接口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"/>
          <p:cNvSpPr/>
          <p:nvPr/>
        </p:nvSpPr>
        <p:spPr>
          <a:xfrm>
            <a:off x="6407463" y="4682648"/>
            <a:ext cx="824780" cy="1088025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16X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外联接口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"/>
          <p:cNvSpPr/>
          <p:nvPr/>
        </p:nvSpPr>
        <p:spPr>
          <a:xfrm>
            <a:off x="8138891" y="4682648"/>
            <a:ext cx="824780" cy="1088025"/>
          </a:xfrm>
          <a:prstGeom prst="rect">
            <a:avLst/>
          </a:prstGeom>
          <a:solidFill>
            <a:srgbClr val="AEAEAE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16X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外联接口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"/>
          <p:cNvSpPr/>
          <p:nvPr/>
        </p:nvSpPr>
        <p:spPr>
          <a:xfrm>
            <a:off x="1944925" y="1535599"/>
            <a:ext cx="633014" cy="236337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1375081" y="1771936"/>
            <a:ext cx="2001960" cy="350736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"/>
          <p:cNvSpPr/>
          <p:nvPr/>
        </p:nvSpPr>
        <p:spPr>
          <a:xfrm>
            <a:off x="1375081" y="2122672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"/>
          <p:cNvSpPr/>
          <p:nvPr/>
        </p:nvSpPr>
        <p:spPr>
          <a:xfrm>
            <a:off x="1641069" y="2122672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6"/>
          <p:cNvSpPr txBox="1"/>
          <p:nvPr/>
        </p:nvSpPr>
        <p:spPr>
          <a:xfrm>
            <a:off x="236164" y="641059"/>
            <a:ext cx="10515600" cy="7299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星形拓扑</a:t>
            </a:r>
            <a:endParaRPr/>
          </a:p>
        </p:txBody>
      </p:sp>
      <p:sp>
        <p:nvSpPr>
          <p:cNvPr id="368" name="Google Shape;368;p6"/>
          <p:cNvSpPr/>
          <p:nvPr/>
        </p:nvSpPr>
        <p:spPr>
          <a:xfrm>
            <a:off x="1874724" y="2127239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6"/>
          <p:cNvSpPr/>
          <p:nvPr/>
        </p:nvSpPr>
        <p:spPr>
          <a:xfrm>
            <a:off x="2146187" y="2127239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2375444" y="2127239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6"/>
          <p:cNvSpPr/>
          <p:nvPr/>
        </p:nvSpPr>
        <p:spPr>
          <a:xfrm>
            <a:off x="2641432" y="2127239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6"/>
          <p:cNvSpPr/>
          <p:nvPr/>
        </p:nvSpPr>
        <p:spPr>
          <a:xfrm>
            <a:off x="2875087" y="2131806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6"/>
          <p:cNvSpPr/>
          <p:nvPr/>
        </p:nvSpPr>
        <p:spPr>
          <a:xfrm>
            <a:off x="3146550" y="2131806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6"/>
          <p:cNvSpPr/>
          <p:nvPr/>
        </p:nvSpPr>
        <p:spPr>
          <a:xfrm>
            <a:off x="1945542" y="6485695"/>
            <a:ext cx="633014" cy="236337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6"/>
          <p:cNvSpPr/>
          <p:nvPr/>
        </p:nvSpPr>
        <p:spPr>
          <a:xfrm>
            <a:off x="1375698" y="6134959"/>
            <a:ext cx="2001960" cy="350736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6"/>
          <p:cNvSpPr/>
          <p:nvPr/>
        </p:nvSpPr>
        <p:spPr>
          <a:xfrm>
            <a:off x="1375698" y="5390609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6"/>
          <p:cNvSpPr/>
          <p:nvPr/>
        </p:nvSpPr>
        <p:spPr>
          <a:xfrm>
            <a:off x="1641686" y="5281104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6"/>
          <p:cNvSpPr/>
          <p:nvPr/>
        </p:nvSpPr>
        <p:spPr>
          <a:xfrm>
            <a:off x="1875341" y="5395176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6"/>
          <p:cNvSpPr/>
          <p:nvPr/>
        </p:nvSpPr>
        <p:spPr>
          <a:xfrm>
            <a:off x="2146804" y="5285671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6"/>
          <p:cNvSpPr/>
          <p:nvPr/>
        </p:nvSpPr>
        <p:spPr>
          <a:xfrm>
            <a:off x="2376061" y="5395176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"/>
          <p:cNvSpPr/>
          <p:nvPr/>
        </p:nvSpPr>
        <p:spPr>
          <a:xfrm>
            <a:off x="2642049" y="5285671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6"/>
          <p:cNvSpPr/>
          <p:nvPr/>
        </p:nvSpPr>
        <p:spPr>
          <a:xfrm>
            <a:off x="2875704" y="5399743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6"/>
          <p:cNvSpPr/>
          <p:nvPr/>
        </p:nvSpPr>
        <p:spPr>
          <a:xfrm>
            <a:off x="3147167" y="5290238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6"/>
          <p:cNvSpPr/>
          <p:nvPr/>
        </p:nvSpPr>
        <p:spPr>
          <a:xfrm>
            <a:off x="4452930" y="1530349"/>
            <a:ext cx="633014" cy="236337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6"/>
          <p:cNvSpPr/>
          <p:nvPr/>
        </p:nvSpPr>
        <p:spPr>
          <a:xfrm>
            <a:off x="3883086" y="1766686"/>
            <a:ext cx="2001960" cy="350736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6"/>
          <p:cNvSpPr/>
          <p:nvPr/>
        </p:nvSpPr>
        <p:spPr>
          <a:xfrm>
            <a:off x="3883086" y="2117422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6"/>
          <p:cNvSpPr/>
          <p:nvPr/>
        </p:nvSpPr>
        <p:spPr>
          <a:xfrm>
            <a:off x="4149074" y="2117422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6"/>
          <p:cNvSpPr/>
          <p:nvPr/>
        </p:nvSpPr>
        <p:spPr>
          <a:xfrm>
            <a:off x="4382729" y="2121989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"/>
          <p:cNvSpPr/>
          <p:nvPr/>
        </p:nvSpPr>
        <p:spPr>
          <a:xfrm>
            <a:off x="4654192" y="2121989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6"/>
          <p:cNvSpPr/>
          <p:nvPr/>
        </p:nvSpPr>
        <p:spPr>
          <a:xfrm>
            <a:off x="4883449" y="2121989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6"/>
          <p:cNvSpPr/>
          <p:nvPr/>
        </p:nvSpPr>
        <p:spPr>
          <a:xfrm>
            <a:off x="5149437" y="2121989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6"/>
          <p:cNvSpPr/>
          <p:nvPr/>
        </p:nvSpPr>
        <p:spPr>
          <a:xfrm>
            <a:off x="5383092" y="2126556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6"/>
          <p:cNvSpPr/>
          <p:nvPr/>
        </p:nvSpPr>
        <p:spPr>
          <a:xfrm>
            <a:off x="5654555" y="2126556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6"/>
          <p:cNvSpPr/>
          <p:nvPr/>
        </p:nvSpPr>
        <p:spPr>
          <a:xfrm>
            <a:off x="4453547" y="6480445"/>
            <a:ext cx="633014" cy="236337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6"/>
          <p:cNvSpPr/>
          <p:nvPr/>
        </p:nvSpPr>
        <p:spPr>
          <a:xfrm>
            <a:off x="3883703" y="6129709"/>
            <a:ext cx="2001960" cy="350736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6"/>
          <p:cNvSpPr/>
          <p:nvPr/>
        </p:nvSpPr>
        <p:spPr>
          <a:xfrm>
            <a:off x="3883703" y="5385359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6"/>
          <p:cNvSpPr/>
          <p:nvPr/>
        </p:nvSpPr>
        <p:spPr>
          <a:xfrm>
            <a:off x="4149691" y="5275854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6"/>
          <p:cNvSpPr/>
          <p:nvPr/>
        </p:nvSpPr>
        <p:spPr>
          <a:xfrm>
            <a:off x="4383346" y="5389926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6"/>
          <p:cNvSpPr/>
          <p:nvPr/>
        </p:nvSpPr>
        <p:spPr>
          <a:xfrm>
            <a:off x="4654809" y="5280421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"/>
          <p:cNvSpPr/>
          <p:nvPr/>
        </p:nvSpPr>
        <p:spPr>
          <a:xfrm>
            <a:off x="4884066" y="5389926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6"/>
          <p:cNvSpPr/>
          <p:nvPr/>
        </p:nvSpPr>
        <p:spPr>
          <a:xfrm>
            <a:off x="5150054" y="5280421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6"/>
          <p:cNvSpPr/>
          <p:nvPr/>
        </p:nvSpPr>
        <p:spPr>
          <a:xfrm>
            <a:off x="5383709" y="5394493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6"/>
          <p:cNvSpPr/>
          <p:nvPr/>
        </p:nvSpPr>
        <p:spPr>
          <a:xfrm>
            <a:off x="5655172" y="5284988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6"/>
          <p:cNvSpPr/>
          <p:nvPr/>
        </p:nvSpPr>
        <p:spPr>
          <a:xfrm>
            <a:off x="6986635" y="1530349"/>
            <a:ext cx="633014" cy="236337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6"/>
          <p:cNvSpPr/>
          <p:nvPr/>
        </p:nvSpPr>
        <p:spPr>
          <a:xfrm>
            <a:off x="6416791" y="1766686"/>
            <a:ext cx="2001960" cy="350736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6"/>
          <p:cNvSpPr/>
          <p:nvPr/>
        </p:nvSpPr>
        <p:spPr>
          <a:xfrm>
            <a:off x="6416791" y="2117422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6"/>
          <p:cNvSpPr/>
          <p:nvPr/>
        </p:nvSpPr>
        <p:spPr>
          <a:xfrm>
            <a:off x="6682779" y="2117422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6"/>
          <p:cNvSpPr/>
          <p:nvPr/>
        </p:nvSpPr>
        <p:spPr>
          <a:xfrm>
            <a:off x="6916434" y="2121989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6"/>
          <p:cNvSpPr/>
          <p:nvPr/>
        </p:nvSpPr>
        <p:spPr>
          <a:xfrm>
            <a:off x="7187897" y="2121989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6"/>
          <p:cNvSpPr/>
          <p:nvPr/>
        </p:nvSpPr>
        <p:spPr>
          <a:xfrm>
            <a:off x="7417154" y="2121989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6"/>
          <p:cNvSpPr/>
          <p:nvPr/>
        </p:nvSpPr>
        <p:spPr>
          <a:xfrm>
            <a:off x="7683142" y="2121989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6"/>
          <p:cNvSpPr/>
          <p:nvPr/>
        </p:nvSpPr>
        <p:spPr>
          <a:xfrm>
            <a:off x="7916797" y="2126556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6"/>
          <p:cNvSpPr/>
          <p:nvPr/>
        </p:nvSpPr>
        <p:spPr>
          <a:xfrm>
            <a:off x="8188260" y="2126556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6"/>
          <p:cNvSpPr/>
          <p:nvPr/>
        </p:nvSpPr>
        <p:spPr>
          <a:xfrm>
            <a:off x="6987252" y="6480445"/>
            <a:ext cx="633014" cy="236337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6"/>
          <p:cNvSpPr/>
          <p:nvPr/>
        </p:nvSpPr>
        <p:spPr>
          <a:xfrm>
            <a:off x="6417408" y="6129709"/>
            <a:ext cx="2001960" cy="350736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6"/>
          <p:cNvSpPr/>
          <p:nvPr/>
        </p:nvSpPr>
        <p:spPr>
          <a:xfrm>
            <a:off x="6417408" y="5385359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6"/>
          <p:cNvSpPr/>
          <p:nvPr/>
        </p:nvSpPr>
        <p:spPr>
          <a:xfrm>
            <a:off x="6683396" y="5275854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6"/>
          <p:cNvSpPr/>
          <p:nvPr/>
        </p:nvSpPr>
        <p:spPr>
          <a:xfrm>
            <a:off x="6917051" y="5389926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6"/>
          <p:cNvSpPr/>
          <p:nvPr/>
        </p:nvSpPr>
        <p:spPr>
          <a:xfrm>
            <a:off x="7188514" y="5280421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6"/>
          <p:cNvSpPr/>
          <p:nvPr/>
        </p:nvSpPr>
        <p:spPr>
          <a:xfrm>
            <a:off x="7417771" y="5389926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6"/>
          <p:cNvSpPr/>
          <p:nvPr/>
        </p:nvSpPr>
        <p:spPr>
          <a:xfrm>
            <a:off x="7683759" y="5280421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6"/>
          <p:cNvSpPr/>
          <p:nvPr/>
        </p:nvSpPr>
        <p:spPr>
          <a:xfrm>
            <a:off x="7917414" y="5394493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6"/>
          <p:cNvSpPr/>
          <p:nvPr/>
        </p:nvSpPr>
        <p:spPr>
          <a:xfrm>
            <a:off x="8188877" y="5284988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6"/>
          <p:cNvSpPr/>
          <p:nvPr/>
        </p:nvSpPr>
        <p:spPr>
          <a:xfrm>
            <a:off x="9494640" y="1525099"/>
            <a:ext cx="633014" cy="236337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6"/>
          <p:cNvSpPr/>
          <p:nvPr/>
        </p:nvSpPr>
        <p:spPr>
          <a:xfrm>
            <a:off x="8924796" y="1761436"/>
            <a:ext cx="2001960" cy="350736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6"/>
          <p:cNvSpPr/>
          <p:nvPr/>
        </p:nvSpPr>
        <p:spPr>
          <a:xfrm>
            <a:off x="8924796" y="2112172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6"/>
          <p:cNvSpPr/>
          <p:nvPr/>
        </p:nvSpPr>
        <p:spPr>
          <a:xfrm>
            <a:off x="9190784" y="2112172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6"/>
          <p:cNvSpPr/>
          <p:nvPr/>
        </p:nvSpPr>
        <p:spPr>
          <a:xfrm>
            <a:off x="9424439" y="2116739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6"/>
          <p:cNvSpPr/>
          <p:nvPr/>
        </p:nvSpPr>
        <p:spPr>
          <a:xfrm>
            <a:off x="9695902" y="2116739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6"/>
          <p:cNvSpPr/>
          <p:nvPr/>
        </p:nvSpPr>
        <p:spPr>
          <a:xfrm>
            <a:off x="9925159" y="2116739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6"/>
          <p:cNvSpPr/>
          <p:nvPr/>
        </p:nvSpPr>
        <p:spPr>
          <a:xfrm>
            <a:off x="10191147" y="2116739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6"/>
          <p:cNvSpPr/>
          <p:nvPr/>
        </p:nvSpPr>
        <p:spPr>
          <a:xfrm>
            <a:off x="10424802" y="2121306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6"/>
          <p:cNvSpPr/>
          <p:nvPr/>
        </p:nvSpPr>
        <p:spPr>
          <a:xfrm>
            <a:off x="10696265" y="2121306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6"/>
          <p:cNvSpPr/>
          <p:nvPr/>
        </p:nvSpPr>
        <p:spPr>
          <a:xfrm>
            <a:off x="9495257" y="6475195"/>
            <a:ext cx="633014" cy="236337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6"/>
          <p:cNvSpPr/>
          <p:nvPr/>
        </p:nvSpPr>
        <p:spPr>
          <a:xfrm>
            <a:off x="8925413" y="6124459"/>
            <a:ext cx="2001960" cy="350736"/>
          </a:xfrm>
          <a:prstGeom prst="rect">
            <a:avLst/>
          </a:prstGeom>
          <a:solidFill>
            <a:srgbClr val="95DCF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144 Lane SW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6"/>
          <p:cNvSpPr/>
          <p:nvPr/>
        </p:nvSpPr>
        <p:spPr>
          <a:xfrm>
            <a:off x="8925413" y="5380109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6"/>
          <p:cNvSpPr/>
          <p:nvPr/>
        </p:nvSpPr>
        <p:spPr>
          <a:xfrm>
            <a:off x="9191401" y="5270604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6"/>
          <p:cNvSpPr/>
          <p:nvPr/>
        </p:nvSpPr>
        <p:spPr>
          <a:xfrm>
            <a:off x="9425056" y="5384676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6"/>
          <p:cNvSpPr/>
          <p:nvPr/>
        </p:nvSpPr>
        <p:spPr>
          <a:xfrm>
            <a:off x="9696519" y="5275171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6"/>
          <p:cNvSpPr/>
          <p:nvPr/>
        </p:nvSpPr>
        <p:spPr>
          <a:xfrm>
            <a:off x="9925776" y="5384676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6"/>
          <p:cNvSpPr/>
          <p:nvPr/>
        </p:nvSpPr>
        <p:spPr>
          <a:xfrm>
            <a:off x="10191764" y="5275171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6"/>
          <p:cNvSpPr/>
          <p:nvPr/>
        </p:nvSpPr>
        <p:spPr>
          <a:xfrm>
            <a:off x="10425419" y="5389243"/>
            <a:ext cx="263827" cy="729966"/>
          </a:xfrm>
          <a:prstGeom prst="rect">
            <a:avLst/>
          </a:prstGeom>
          <a:solidFill>
            <a:srgbClr val="47D35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6"/>
          <p:cNvSpPr/>
          <p:nvPr/>
        </p:nvSpPr>
        <p:spPr>
          <a:xfrm>
            <a:off x="10696882" y="5279738"/>
            <a:ext cx="230491" cy="844579"/>
          </a:xfrm>
          <a:prstGeom prst="rect">
            <a:avLst/>
          </a:prstGeom>
          <a:solidFill>
            <a:srgbClr val="F2A98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扩展卡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6"/>
          <p:cNvSpPr/>
          <p:nvPr/>
        </p:nvSpPr>
        <p:spPr>
          <a:xfrm>
            <a:off x="1583650" y="3588068"/>
            <a:ext cx="1685193" cy="729966"/>
          </a:xfrm>
          <a:prstGeom prst="rect">
            <a:avLst/>
          </a:prstGeom>
          <a:solidFill>
            <a:srgbClr val="43B0E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SW-1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6"/>
          <p:cNvSpPr/>
          <p:nvPr/>
        </p:nvSpPr>
        <p:spPr>
          <a:xfrm>
            <a:off x="1671760" y="3486981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6"/>
          <p:cNvSpPr/>
          <p:nvPr/>
        </p:nvSpPr>
        <p:spPr>
          <a:xfrm>
            <a:off x="2058951" y="3486981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6"/>
          <p:cNvSpPr/>
          <p:nvPr/>
        </p:nvSpPr>
        <p:spPr>
          <a:xfrm>
            <a:off x="2446142" y="3486981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6"/>
          <p:cNvSpPr/>
          <p:nvPr/>
        </p:nvSpPr>
        <p:spPr>
          <a:xfrm>
            <a:off x="2833333" y="3486981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6"/>
          <p:cNvSpPr/>
          <p:nvPr/>
        </p:nvSpPr>
        <p:spPr>
          <a:xfrm>
            <a:off x="1787006" y="4192557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6"/>
          <p:cNvSpPr/>
          <p:nvPr/>
        </p:nvSpPr>
        <p:spPr>
          <a:xfrm>
            <a:off x="2174197" y="4192557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6"/>
          <p:cNvSpPr/>
          <p:nvPr/>
        </p:nvSpPr>
        <p:spPr>
          <a:xfrm>
            <a:off x="2561388" y="4192557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6"/>
          <p:cNvSpPr/>
          <p:nvPr/>
        </p:nvSpPr>
        <p:spPr>
          <a:xfrm>
            <a:off x="2948579" y="4192557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6"/>
          <p:cNvSpPr/>
          <p:nvPr/>
        </p:nvSpPr>
        <p:spPr>
          <a:xfrm>
            <a:off x="4146913" y="3611471"/>
            <a:ext cx="1685193" cy="729966"/>
          </a:xfrm>
          <a:prstGeom prst="rect">
            <a:avLst/>
          </a:prstGeom>
          <a:solidFill>
            <a:srgbClr val="43B0E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SW-2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6"/>
          <p:cNvSpPr/>
          <p:nvPr/>
        </p:nvSpPr>
        <p:spPr>
          <a:xfrm>
            <a:off x="4235023" y="3510384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6"/>
          <p:cNvSpPr/>
          <p:nvPr/>
        </p:nvSpPr>
        <p:spPr>
          <a:xfrm>
            <a:off x="4622214" y="3510384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6"/>
          <p:cNvSpPr/>
          <p:nvPr/>
        </p:nvSpPr>
        <p:spPr>
          <a:xfrm>
            <a:off x="5009405" y="3510384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6"/>
          <p:cNvSpPr/>
          <p:nvPr/>
        </p:nvSpPr>
        <p:spPr>
          <a:xfrm>
            <a:off x="5396596" y="3510384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6"/>
          <p:cNvSpPr/>
          <p:nvPr/>
        </p:nvSpPr>
        <p:spPr>
          <a:xfrm>
            <a:off x="4350269" y="4215960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6"/>
          <p:cNvSpPr/>
          <p:nvPr/>
        </p:nvSpPr>
        <p:spPr>
          <a:xfrm>
            <a:off x="4737460" y="4215960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6"/>
          <p:cNvSpPr/>
          <p:nvPr/>
        </p:nvSpPr>
        <p:spPr>
          <a:xfrm>
            <a:off x="5124651" y="4215960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6"/>
          <p:cNvSpPr/>
          <p:nvPr/>
        </p:nvSpPr>
        <p:spPr>
          <a:xfrm>
            <a:off x="5511842" y="4215960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6"/>
          <p:cNvSpPr/>
          <p:nvPr/>
        </p:nvSpPr>
        <p:spPr>
          <a:xfrm>
            <a:off x="6625360" y="3571116"/>
            <a:ext cx="1685193" cy="729966"/>
          </a:xfrm>
          <a:prstGeom prst="rect">
            <a:avLst/>
          </a:prstGeom>
          <a:solidFill>
            <a:srgbClr val="43B0E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SW-3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6"/>
          <p:cNvSpPr/>
          <p:nvPr/>
        </p:nvSpPr>
        <p:spPr>
          <a:xfrm>
            <a:off x="6713470" y="3470029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6"/>
          <p:cNvSpPr/>
          <p:nvPr/>
        </p:nvSpPr>
        <p:spPr>
          <a:xfrm>
            <a:off x="7100661" y="3470029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6"/>
          <p:cNvSpPr/>
          <p:nvPr/>
        </p:nvSpPr>
        <p:spPr>
          <a:xfrm>
            <a:off x="7487852" y="3470029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6"/>
          <p:cNvSpPr/>
          <p:nvPr/>
        </p:nvSpPr>
        <p:spPr>
          <a:xfrm>
            <a:off x="7875043" y="3470029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6"/>
          <p:cNvSpPr/>
          <p:nvPr/>
        </p:nvSpPr>
        <p:spPr>
          <a:xfrm>
            <a:off x="6828716" y="4175605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6"/>
          <p:cNvSpPr/>
          <p:nvPr/>
        </p:nvSpPr>
        <p:spPr>
          <a:xfrm>
            <a:off x="7215907" y="4175605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6"/>
          <p:cNvSpPr/>
          <p:nvPr/>
        </p:nvSpPr>
        <p:spPr>
          <a:xfrm>
            <a:off x="7603098" y="4175605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6"/>
          <p:cNvSpPr/>
          <p:nvPr/>
        </p:nvSpPr>
        <p:spPr>
          <a:xfrm>
            <a:off x="7990289" y="4175605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6"/>
          <p:cNvSpPr/>
          <p:nvPr/>
        </p:nvSpPr>
        <p:spPr>
          <a:xfrm>
            <a:off x="9188623" y="3594519"/>
            <a:ext cx="1685193" cy="729966"/>
          </a:xfrm>
          <a:prstGeom prst="rect">
            <a:avLst/>
          </a:prstGeom>
          <a:solidFill>
            <a:srgbClr val="43B0E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SW-4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6"/>
          <p:cNvSpPr/>
          <p:nvPr/>
        </p:nvSpPr>
        <p:spPr>
          <a:xfrm>
            <a:off x="9276733" y="3493432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6"/>
          <p:cNvSpPr/>
          <p:nvPr/>
        </p:nvSpPr>
        <p:spPr>
          <a:xfrm>
            <a:off x="9663924" y="3493432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6"/>
          <p:cNvSpPr/>
          <p:nvPr/>
        </p:nvSpPr>
        <p:spPr>
          <a:xfrm>
            <a:off x="10051115" y="3493432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6"/>
          <p:cNvSpPr/>
          <p:nvPr/>
        </p:nvSpPr>
        <p:spPr>
          <a:xfrm>
            <a:off x="10438306" y="3493432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6"/>
          <p:cNvSpPr/>
          <p:nvPr/>
        </p:nvSpPr>
        <p:spPr>
          <a:xfrm>
            <a:off x="9391979" y="4199008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6"/>
          <p:cNvSpPr/>
          <p:nvPr/>
        </p:nvSpPr>
        <p:spPr>
          <a:xfrm>
            <a:off x="9779170" y="4199008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6"/>
          <p:cNvSpPr/>
          <p:nvPr/>
        </p:nvSpPr>
        <p:spPr>
          <a:xfrm>
            <a:off x="10166361" y="4199008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6"/>
          <p:cNvSpPr/>
          <p:nvPr/>
        </p:nvSpPr>
        <p:spPr>
          <a:xfrm>
            <a:off x="10553552" y="4199008"/>
            <a:ext cx="230491" cy="26676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p6"/>
          <p:cNvCxnSpPr>
            <a:stCxn id="366" idx="2"/>
            <a:endCxn id="445" idx="0"/>
          </p:cNvCxnSpPr>
          <p:nvPr/>
        </p:nvCxnSpPr>
        <p:spPr>
          <a:xfrm>
            <a:off x="1756315" y="2967251"/>
            <a:ext cx="30600" cy="519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81" name="Google Shape;481;p6"/>
          <p:cNvCxnSpPr>
            <a:stCxn id="387" idx="2"/>
            <a:endCxn id="446" idx="0"/>
          </p:cNvCxnSpPr>
          <p:nvPr/>
        </p:nvCxnSpPr>
        <p:spPr>
          <a:xfrm flipH="1">
            <a:off x="2174220" y="2962001"/>
            <a:ext cx="2090100" cy="525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82" name="Google Shape;482;p6"/>
          <p:cNvCxnSpPr>
            <a:stCxn id="407" idx="2"/>
            <a:endCxn id="447" idx="0"/>
          </p:cNvCxnSpPr>
          <p:nvPr/>
        </p:nvCxnSpPr>
        <p:spPr>
          <a:xfrm flipH="1">
            <a:off x="2561424" y="2962001"/>
            <a:ext cx="4236600" cy="525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83" name="Google Shape;483;p6"/>
          <p:cNvCxnSpPr>
            <a:stCxn id="427" idx="2"/>
            <a:endCxn id="448" idx="0"/>
          </p:cNvCxnSpPr>
          <p:nvPr/>
        </p:nvCxnSpPr>
        <p:spPr>
          <a:xfrm flipH="1">
            <a:off x="2948429" y="2956751"/>
            <a:ext cx="6357600" cy="530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84" name="Google Shape;484;p6"/>
          <p:cNvCxnSpPr>
            <a:stCxn id="449" idx="2"/>
            <a:endCxn id="377" idx="0"/>
          </p:cNvCxnSpPr>
          <p:nvPr/>
        </p:nvCxnSpPr>
        <p:spPr>
          <a:xfrm flipH="1">
            <a:off x="1757052" y="4459317"/>
            <a:ext cx="145200" cy="821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85" name="Google Shape;485;p6"/>
          <p:cNvCxnSpPr>
            <a:stCxn id="450" idx="2"/>
            <a:endCxn id="397" idx="0"/>
          </p:cNvCxnSpPr>
          <p:nvPr/>
        </p:nvCxnSpPr>
        <p:spPr>
          <a:xfrm>
            <a:off x="2289443" y="4459317"/>
            <a:ext cx="1975500" cy="816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86" name="Google Shape;486;p6"/>
          <p:cNvCxnSpPr>
            <a:stCxn id="451" idx="2"/>
            <a:endCxn id="417" idx="0"/>
          </p:cNvCxnSpPr>
          <p:nvPr/>
        </p:nvCxnSpPr>
        <p:spPr>
          <a:xfrm>
            <a:off x="2676634" y="4459317"/>
            <a:ext cx="4122000" cy="816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87" name="Google Shape;487;p6"/>
          <p:cNvCxnSpPr>
            <a:stCxn id="452" idx="2"/>
            <a:endCxn id="437" idx="0"/>
          </p:cNvCxnSpPr>
          <p:nvPr/>
        </p:nvCxnSpPr>
        <p:spPr>
          <a:xfrm>
            <a:off x="3063824" y="4459317"/>
            <a:ext cx="6242700" cy="811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88" name="Google Shape;488;p6"/>
          <p:cNvCxnSpPr>
            <a:stCxn id="369" idx="2"/>
            <a:endCxn id="454" idx="0"/>
          </p:cNvCxnSpPr>
          <p:nvPr/>
        </p:nvCxnSpPr>
        <p:spPr>
          <a:xfrm>
            <a:off x="2261432" y="2971818"/>
            <a:ext cx="2088900" cy="538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89" name="Google Shape;489;p6"/>
          <p:cNvCxnSpPr>
            <a:stCxn id="389" idx="2"/>
            <a:endCxn id="455" idx="0"/>
          </p:cNvCxnSpPr>
          <p:nvPr/>
        </p:nvCxnSpPr>
        <p:spPr>
          <a:xfrm flipH="1">
            <a:off x="4737338" y="2966568"/>
            <a:ext cx="32100" cy="543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90" name="Google Shape;490;p6"/>
          <p:cNvCxnSpPr>
            <a:stCxn id="456" idx="0"/>
            <a:endCxn id="409" idx="2"/>
          </p:cNvCxnSpPr>
          <p:nvPr/>
        </p:nvCxnSpPr>
        <p:spPr>
          <a:xfrm flipH="1" rot="10800000">
            <a:off x="5124650" y="2966484"/>
            <a:ext cx="2178600" cy="543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91" name="Google Shape;491;p6"/>
          <p:cNvCxnSpPr>
            <a:endCxn id="457" idx="0"/>
          </p:cNvCxnSpPr>
          <p:nvPr/>
        </p:nvCxnSpPr>
        <p:spPr>
          <a:xfrm flipH="1">
            <a:off x="5511841" y="2961384"/>
            <a:ext cx="4282800" cy="549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92" name="Google Shape;492;p6"/>
          <p:cNvCxnSpPr>
            <a:stCxn id="379" idx="0"/>
            <a:endCxn id="458" idx="2"/>
          </p:cNvCxnSpPr>
          <p:nvPr/>
        </p:nvCxnSpPr>
        <p:spPr>
          <a:xfrm flipH="1" rot="10800000">
            <a:off x="2262049" y="4482571"/>
            <a:ext cx="2203500" cy="80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93" name="Google Shape;493;p6"/>
          <p:cNvCxnSpPr>
            <a:stCxn id="399" idx="0"/>
            <a:endCxn id="459" idx="2"/>
          </p:cNvCxnSpPr>
          <p:nvPr/>
        </p:nvCxnSpPr>
        <p:spPr>
          <a:xfrm flipH="1" rot="10800000">
            <a:off x="4770055" y="4482721"/>
            <a:ext cx="82800" cy="79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94" name="Google Shape;494;p6"/>
          <p:cNvCxnSpPr>
            <a:stCxn id="419" idx="0"/>
            <a:endCxn id="460" idx="2"/>
          </p:cNvCxnSpPr>
          <p:nvPr/>
        </p:nvCxnSpPr>
        <p:spPr>
          <a:xfrm rot="10800000">
            <a:off x="5239760" y="4482721"/>
            <a:ext cx="2064000" cy="79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95" name="Google Shape;495;p6"/>
          <p:cNvCxnSpPr>
            <a:stCxn id="461" idx="2"/>
            <a:endCxn id="439" idx="0"/>
          </p:cNvCxnSpPr>
          <p:nvPr/>
        </p:nvCxnSpPr>
        <p:spPr>
          <a:xfrm>
            <a:off x="5627088" y="4482720"/>
            <a:ext cx="4184700" cy="792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96" name="Google Shape;496;p6"/>
          <p:cNvCxnSpPr>
            <a:stCxn id="463" idx="0"/>
            <a:endCxn id="371" idx="2"/>
          </p:cNvCxnSpPr>
          <p:nvPr/>
        </p:nvCxnSpPr>
        <p:spPr>
          <a:xfrm rot="10800000">
            <a:off x="2756816" y="2971729"/>
            <a:ext cx="4071900" cy="4983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97" name="Google Shape;497;p6"/>
          <p:cNvCxnSpPr>
            <a:stCxn id="464" idx="0"/>
            <a:endCxn id="391" idx="2"/>
          </p:cNvCxnSpPr>
          <p:nvPr/>
        </p:nvCxnSpPr>
        <p:spPr>
          <a:xfrm rot="10800000">
            <a:off x="5264707" y="2966629"/>
            <a:ext cx="1951200" cy="5034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98" name="Google Shape;498;p6"/>
          <p:cNvCxnSpPr>
            <a:stCxn id="465" idx="0"/>
            <a:endCxn id="411" idx="2"/>
          </p:cNvCxnSpPr>
          <p:nvPr/>
        </p:nvCxnSpPr>
        <p:spPr>
          <a:xfrm flipH="1" rot="10800000">
            <a:off x="7603098" y="2966629"/>
            <a:ext cx="195300" cy="5034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99" name="Google Shape;499;p6"/>
          <p:cNvCxnSpPr>
            <a:stCxn id="466" idx="0"/>
            <a:endCxn id="431" idx="2"/>
          </p:cNvCxnSpPr>
          <p:nvPr/>
        </p:nvCxnSpPr>
        <p:spPr>
          <a:xfrm flipH="1" rot="10800000">
            <a:off x="7990289" y="2961229"/>
            <a:ext cx="2316000" cy="5088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00" name="Google Shape;500;p6"/>
          <p:cNvCxnSpPr>
            <a:stCxn id="467" idx="2"/>
            <a:endCxn id="381" idx="0"/>
          </p:cNvCxnSpPr>
          <p:nvPr/>
        </p:nvCxnSpPr>
        <p:spPr>
          <a:xfrm flipH="1">
            <a:off x="2757162" y="4442365"/>
            <a:ext cx="4186800" cy="8433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01" name="Google Shape;501;p6"/>
          <p:cNvCxnSpPr>
            <a:stCxn id="468" idx="2"/>
            <a:endCxn id="401" idx="0"/>
          </p:cNvCxnSpPr>
          <p:nvPr/>
        </p:nvCxnSpPr>
        <p:spPr>
          <a:xfrm flipH="1">
            <a:off x="5265352" y="4442365"/>
            <a:ext cx="2065800" cy="8382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02" name="Google Shape;502;p6"/>
          <p:cNvCxnSpPr>
            <a:stCxn id="469" idx="2"/>
            <a:endCxn id="421" idx="0"/>
          </p:cNvCxnSpPr>
          <p:nvPr/>
        </p:nvCxnSpPr>
        <p:spPr>
          <a:xfrm>
            <a:off x="7718344" y="4442365"/>
            <a:ext cx="80700" cy="8382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03" name="Google Shape;503;p6"/>
          <p:cNvCxnSpPr>
            <a:stCxn id="470" idx="2"/>
            <a:endCxn id="441" idx="0"/>
          </p:cNvCxnSpPr>
          <p:nvPr/>
        </p:nvCxnSpPr>
        <p:spPr>
          <a:xfrm>
            <a:off x="8105535" y="4442365"/>
            <a:ext cx="2201400" cy="8328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04" name="Google Shape;504;p6"/>
          <p:cNvCxnSpPr>
            <a:stCxn id="472" idx="0"/>
            <a:endCxn id="373" idx="2"/>
          </p:cNvCxnSpPr>
          <p:nvPr/>
        </p:nvCxnSpPr>
        <p:spPr>
          <a:xfrm rot="10800000">
            <a:off x="3261779" y="2976532"/>
            <a:ext cx="6130200" cy="516900"/>
          </a:xfrm>
          <a:prstGeom prst="straightConnector1">
            <a:avLst/>
          </a:prstGeom>
          <a:noFill/>
          <a:ln cap="flat" cmpd="sng" w="19050">
            <a:solidFill>
              <a:srgbClr val="7030A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05" name="Google Shape;505;p6"/>
          <p:cNvCxnSpPr>
            <a:stCxn id="473" idx="0"/>
            <a:endCxn id="393" idx="2"/>
          </p:cNvCxnSpPr>
          <p:nvPr/>
        </p:nvCxnSpPr>
        <p:spPr>
          <a:xfrm rot="10800000">
            <a:off x="5769670" y="2971132"/>
            <a:ext cx="4009500" cy="522300"/>
          </a:xfrm>
          <a:prstGeom prst="straightConnector1">
            <a:avLst/>
          </a:prstGeom>
          <a:noFill/>
          <a:ln cap="flat" cmpd="sng" w="19050">
            <a:solidFill>
              <a:srgbClr val="7030A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06" name="Google Shape;506;p6"/>
          <p:cNvCxnSpPr>
            <a:stCxn id="474" idx="0"/>
            <a:endCxn id="413" idx="2"/>
          </p:cNvCxnSpPr>
          <p:nvPr/>
        </p:nvCxnSpPr>
        <p:spPr>
          <a:xfrm rot="10800000">
            <a:off x="8303361" y="2971132"/>
            <a:ext cx="1863000" cy="522300"/>
          </a:xfrm>
          <a:prstGeom prst="straightConnector1">
            <a:avLst/>
          </a:prstGeom>
          <a:noFill/>
          <a:ln cap="flat" cmpd="sng" w="19050">
            <a:solidFill>
              <a:srgbClr val="7030A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07" name="Google Shape;507;p6"/>
          <p:cNvCxnSpPr>
            <a:stCxn id="475" idx="0"/>
            <a:endCxn id="433" idx="2"/>
          </p:cNvCxnSpPr>
          <p:nvPr/>
        </p:nvCxnSpPr>
        <p:spPr>
          <a:xfrm flipH="1" rot="10800000">
            <a:off x="10553552" y="2966032"/>
            <a:ext cx="258000" cy="527400"/>
          </a:xfrm>
          <a:prstGeom prst="straightConnector1">
            <a:avLst/>
          </a:prstGeom>
          <a:noFill/>
          <a:ln cap="flat" cmpd="sng" w="19050">
            <a:solidFill>
              <a:srgbClr val="7030A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08" name="Google Shape;508;p6"/>
          <p:cNvCxnSpPr>
            <a:stCxn id="443" idx="0"/>
            <a:endCxn id="479" idx="2"/>
          </p:cNvCxnSpPr>
          <p:nvPr/>
        </p:nvCxnSpPr>
        <p:spPr>
          <a:xfrm rot="10800000">
            <a:off x="10668728" y="4465838"/>
            <a:ext cx="143400" cy="813900"/>
          </a:xfrm>
          <a:prstGeom prst="straightConnector1">
            <a:avLst/>
          </a:prstGeom>
          <a:noFill/>
          <a:ln cap="flat" cmpd="sng" w="19050">
            <a:solidFill>
              <a:srgbClr val="7030A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09" name="Google Shape;509;p6"/>
          <p:cNvCxnSpPr>
            <a:stCxn id="476" idx="2"/>
            <a:endCxn id="383" idx="0"/>
          </p:cNvCxnSpPr>
          <p:nvPr/>
        </p:nvCxnSpPr>
        <p:spPr>
          <a:xfrm flipH="1">
            <a:off x="3262424" y="4465768"/>
            <a:ext cx="6244800" cy="824400"/>
          </a:xfrm>
          <a:prstGeom prst="straightConnector1">
            <a:avLst/>
          </a:prstGeom>
          <a:noFill/>
          <a:ln cap="flat" cmpd="sng" w="19050">
            <a:solidFill>
              <a:srgbClr val="7030A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10" name="Google Shape;510;p6"/>
          <p:cNvCxnSpPr>
            <a:stCxn id="477" idx="2"/>
            <a:endCxn id="403" idx="0"/>
          </p:cNvCxnSpPr>
          <p:nvPr/>
        </p:nvCxnSpPr>
        <p:spPr>
          <a:xfrm flipH="1">
            <a:off x="5770316" y="4465768"/>
            <a:ext cx="4124100" cy="819300"/>
          </a:xfrm>
          <a:prstGeom prst="straightConnector1">
            <a:avLst/>
          </a:prstGeom>
          <a:noFill/>
          <a:ln cap="flat" cmpd="sng" w="19050">
            <a:solidFill>
              <a:srgbClr val="7030A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11" name="Google Shape;511;p6"/>
          <p:cNvCxnSpPr>
            <a:stCxn id="478" idx="2"/>
            <a:endCxn id="423" idx="0"/>
          </p:cNvCxnSpPr>
          <p:nvPr/>
        </p:nvCxnSpPr>
        <p:spPr>
          <a:xfrm flipH="1">
            <a:off x="8304007" y="4465768"/>
            <a:ext cx="1977600" cy="819300"/>
          </a:xfrm>
          <a:prstGeom prst="straightConnector1">
            <a:avLst/>
          </a:prstGeom>
          <a:noFill/>
          <a:ln cap="flat" cmpd="sng" w="19050">
            <a:solidFill>
              <a:srgbClr val="7030A0"/>
            </a:solidFill>
            <a:prstDash val="solid"/>
            <a:miter lim="8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组装能力分析和需要解决的问题</a:t>
            </a:r>
            <a:endParaRPr/>
          </a:p>
        </p:txBody>
      </p:sp>
      <p:sp>
        <p:nvSpPr>
          <p:cNvPr id="517" name="Google Shape;517;p7"/>
          <p:cNvSpPr txBox="1"/>
          <p:nvPr>
            <p:ph idx="1" type="body"/>
          </p:nvPr>
        </p:nvSpPr>
        <p:spPr>
          <a:xfrm>
            <a:off x="838199" y="1825625"/>
            <a:ext cx="1085735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- PCIe Faric 超节点用于推理场景，适合32卡~64卡规模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- NCCL通信库跨OS域穿透和算力协调，卡间通信需要专门开发软件。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- 可参考的包括 LIQID，GIGAIO等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lang="en-US"/>
              <a:t>需要switch厂家提供SDK和API支持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lang="en-US"/>
              <a:t>环形拓扑多跳转发和积累延迟限制了链接上限，约为8节点环连。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lang="en-US"/>
              <a:t>星形拓扑受制于单个switch box的管线/lane数量，按16lane一个Port计算，采用144lane的交换机最大可构建54卡统一交换平面。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lang="en-US"/>
              <a:t>枚举隔离和地址映射需要较大工作量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2026-10-28T03:41:20Z</dcterms:created>
  <dc:creator>donghao zhang</dc:creator>
</cp:coreProperties>
</file>